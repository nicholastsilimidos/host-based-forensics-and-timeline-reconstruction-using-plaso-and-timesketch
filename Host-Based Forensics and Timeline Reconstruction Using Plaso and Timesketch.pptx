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9" r:id="rId3"/>
    <p:sldId id="288" r:id="rId4"/>
    <p:sldId id="287" r:id="rId5"/>
    <p:sldId id="286" r:id="rId6"/>
    <p:sldId id="278" r:id="rId7"/>
    <p:sldId id="279" r:id="rId8"/>
    <p:sldId id="257" r:id="rId9"/>
    <p:sldId id="289" r:id="rId10"/>
    <p:sldId id="258" r:id="rId11"/>
    <p:sldId id="28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8E441C-4235-FE95-D2EA-B700F644ACA1}" v="59" dt="2026-04-21T18:34:35.259"/>
    <p1510:client id="{536432D3-4BB2-252C-083F-E54465A12292}" v="678" dt="2026-04-20T22:36:40.751"/>
    <p1510:client id="{C2E96E10-501F-B817-D295-222CBF0A12A9}" v="1868" dt="2026-04-21T22:13:12.922"/>
    <p1510:client id="{D177AB59-B94F-4BD5-8ADA-AE0828900A34}" v="430" dt="2026-04-21T16:56:46.255"/>
    <p1510:client id="{E07612A3-FE0D-1D81-50CC-A22F6BA2F11F}" v="891" dt="2026-04-21T15:06:12.3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507734-AEF9-4F9A-930F-322FEFB73067}" type="datetimeFigureOut">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356193-0CE2-4D26-8364-63D15F389556}" type="slidenum">
              <a:t>‹#›</a:t>
            </a:fld>
            <a:endParaRPr lang="en-US"/>
          </a:p>
        </p:txBody>
      </p:sp>
    </p:spTree>
    <p:extLst>
      <p:ext uri="{BB962C8B-B14F-4D97-AF65-F5344CB8AC3E}">
        <p14:creationId xmlns:p14="http://schemas.microsoft.com/office/powerpoint/2010/main" val="2767291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14132-8E1B-80AE-DD1F-F0BBB335F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87D15B-358E-3AED-FBC5-D40935B948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EDAB9-1FE5-644B-553B-08297EF8F8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4D44FD-5E19-E0F1-DF49-7D6D2B76F33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44787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B3E19-61AF-497C-5F02-6FC109125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4D11E-F8E1-2BE0-C942-2606BF6D80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34797D-6562-64A2-4722-354A6BD8426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F088AA-4472-B021-C70C-F03E6807D347}"/>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137967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990FF-8CB8-7EEE-AB7B-8CD00D5288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F424CB-2903-BEEF-53C0-51FB36E841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C31D2-818C-5367-9E5F-EB088D11C5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E51E36-B8E6-9139-425C-BF91E1E8795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625265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B4D8"/>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 name="Shape 1"/>
          <p:cNvSpPr/>
          <p:nvPr/>
        </p:nvSpPr>
        <p:spPr>
          <a:xfrm>
            <a:off x="9509760" y="-731520"/>
            <a:ext cx="3901440" cy="3901440"/>
          </a:xfrm>
          <a:prstGeom prst="ellipse">
            <a:avLst/>
          </a:prstGeom>
          <a:solidFill>
            <a:srgbClr val="00B4D8">
              <a:alpha val="15000"/>
            </a:srgbClr>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4" name="Shape 2"/>
          <p:cNvSpPr/>
          <p:nvPr/>
        </p:nvSpPr>
        <p:spPr>
          <a:xfrm>
            <a:off x="10485120" y="2682240"/>
            <a:ext cx="2194560" cy="2194560"/>
          </a:xfrm>
          <a:prstGeom prst="ellipse">
            <a:avLst/>
          </a:prstGeom>
          <a:solidFill>
            <a:srgbClr val="0077A8">
              <a:alpha val="20000"/>
            </a:srgbClr>
          </a:solidFill>
          <a:ln w="12700">
            <a:solidFill>
              <a:srgbClr val="0077A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5" name="Text 3"/>
          <p:cNvSpPr/>
          <p:nvPr/>
        </p:nvSpPr>
        <p:spPr>
          <a:xfrm>
            <a:off x="487680" y="365760"/>
            <a:ext cx="1097280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333" b="1" kern="0" spc="400">
                <a:solidFill>
                  <a:srgbClr val="00B4D8"/>
                </a:solidFill>
              </a:rPr>
              <a:t>SPRING 2026 |</a:t>
            </a:r>
            <a:r>
              <a:rPr lang="en-US" sz="1333" b="1" kern="0" spc="400">
                <a:solidFill>
                  <a:srgbClr val="00B4D8"/>
                </a:solidFill>
                <a:ea typeface="+mn-lt"/>
                <a:cs typeface="+mn-lt"/>
              </a:rPr>
              <a:t> BFOR643 – INCIDENT HANDLING (6136) </a:t>
            </a:r>
            <a:r>
              <a:rPr lang="en-US" sz="1333" b="1" kern="0" spc="400">
                <a:solidFill>
                  <a:srgbClr val="00B4D8"/>
                </a:solidFill>
              </a:rPr>
              <a:t> </a:t>
            </a:r>
            <a:endParaRPr lang="en-US" sz="1333" b="1" kern="0" spc="400">
              <a:solidFill>
                <a:srgbClr val="00B4D8"/>
              </a:solidFill>
              <a:ea typeface="Calibri"/>
              <a:cs typeface="Calibri"/>
            </a:endParaRPr>
          </a:p>
        </p:txBody>
      </p:sp>
      <p:sp>
        <p:nvSpPr>
          <p:cNvPr id="6" name="Text 4"/>
          <p:cNvSpPr/>
          <p:nvPr/>
        </p:nvSpPr>
        <p:spPr>
          <a:xfrm>
            <a:off x="487680" y="1220237"/>
            <a:ext cx="9509760" cy="24384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5867" b="1">
                <a:solidFill>
                  <a:srgbClr val="FFFFFF"/>
                </a:solidFill>
              </a:rPr>
              <a:t>Host-Based Forensics &amp;</a:t>
            </a:r>
            <a:endParaRPr lang="en-US" sz="5867">
              <a:ea typeface="Calibri"/>
              <a:cs typeface="Calibri"/>
            </a:endParaRPr>
          </a:p>
          <a:p>
            <a:pPr marL="0" indent="0">
              <a:buNone/>
            </a:pPr>
            <a:r>
              <a:rPr lang="en-US" sz="5867" b="1">
                <a:solidFill>
                  <a:srgbClr val="FFFFFF"/>
                </a:solidFill>
              </a:rPr>
              <a:t>Timeline Reconstruction</a:t>
            </a:r>
            <a:endParaRPr lang="en-US" sz="5867">
              <a:ea typeface="Calibri"/>
              <a:cs typeface="Calibri"/>
            </a:endParaRPr>
          </a:p>
        </p:txBody>
      </p:sp>
      <p:sp>
        <p:nvSpPr>
          <p:cNvPr id="7" name="Text 5"/>
          <p:cNvSpPr/>
          <p:nvPr/>
        </p:nvSpPr>
        <p:spPr>
          <a:xfrm>
            <a:off x="487680" y="3427777"/>
            <a:ext cx="8534400" cy="54864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733" b="1">
                <a:solidFill>
                  <a:srgbClr val="00B4D8"/>
                </a:solidFill>
              </a:rPr>
              <a:t>Using </a:t>
            </a:r>
            <a:r>
              <a:rPr lang="en-US" sz="3733" b="1" err="1">
                <a:solidFill>
                  <a:srgbClr val="00B4D8"/>
                </a:solidFill>
              </a:rPr>
              <a:t>Plaso</a:t>
            </a:r>
            <a:r>
              <a:rPr lang="en-US" sz="3733" b="1">
                <a:solidFill>
                  <a:srgbClr val="00B4D8"/>
                </a:solidFill>
              </a:rPr>
              <a:t> + </a:t>
            </a:r>
            <a:r>
              <a:rPr lang="en-US" sz="3733" b="1" err="1">
                <a:solidFill>
                  <a:srgbClr val="00B4D8"/>
                </a:solidFill>
              </a:rPr>
              <a:t>Timesketch</a:t>
            </a:r>
            <a:endParaRPr lang="en-US" sz="3733" err="1">
              <a:ea typeface="Calibri"/>
              <a:cs typeface="Calibri"/>
            </a:endParaRPr>
          </a:p>
        </p:txBody>
      </p:sp>
      <p:sp>
        <p:nvSpPr>
          <p:cNvPr id="8" name="Text 6"/>
          <p:cNvSpPr/>
          <p:nvPr/>
        </p:nvSpPr>
        <p:spPr>
          <a:xfrm>
            <a:off x="487680" y="5200054"/>
            <a:ext cx="9144000" cy="883173"/>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867">
                <a:solidFill>
                  <a:srgbClr val="A8C8E0"/>
                </a:solidFill>
                <a:ea typeface="Calibri"/>
                <a:cs typeface="Calibri"/>
              </a:rPr>
              <a:t>Instructor: Dr. Vinicius Lima</a:t>
            </a:r>
          </a:p>
          <a:p>
            <a:endParaRPr lang="en-US" sz="1867">
              <a:solidFill>
                <a:srgbClr val="A8C8E0"/>
              </a:solidFill>
              <a:ea typeface="Calibri"/>
              <a:cs typeface="Calibri"/>
            </a:endParaRPr>
          </a:p>
          <a:p>
            <a:r>
              <a:rPr lang="en-US" sz="1867">
                <a:solidFill>
                  <a:srgbClr val="A8C8E0"/>
                </a:solidFill>
                <a:ea typeface="+mn-lt"/>
                <a:cs typeface="+mn-lt"/>
              </a:rPr>
              <a:t>Nicholas Tsilimidos, Craig Perkins, </a:t>
            </a:r>
            <a:r>
              <a:rPr lang="en-US" sz="1867" err="1">
                <a:solidFill>
                  <a:srgbClr val="A8C8E0"/>
                </a:solidFill>
                <a:ea typeface="+mn-lt"/>
                <a:cs typeface="+mn-lt"/>
              </a:rPr>
              <a:t>Shreyak</a:t>
            </a:r>
            <a:r>
              <a:rPr lang="en-US" sz="1867">
                <a:solidFill>
                  <a:srgbClr val="A8C8E0"/>
                </a:solidFill>
                <a:ea typeface="+mn-lt"/>
                <a:cs typeface="+mn-lt"/>
              </a:rPr>
              <a:t> Karmacharya &amp; Ikram Ramdani </a:t>
            </a:r>
            <a:endParaRPr lang="en-US"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B4D8"/>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 name="Text 1"/>
          <p:cNvSpPr/>
          <p:nvPr/>
        </p:nvSpPr>
        <p:spPr>
          <a:xfrm>
            <a:off x="487680" y="304800"/>
            <a:ext cx="1097280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kern="0" spc="533">
                <a:solidFill>
                  <a:srgbClr val="00B4D8"/>
                </a:solidFill>
              </a:rPr>
              <a:t>PROJECT OVERVIEW</a:t>
            </a:r>
            <a:endParaRPr lang="en-US" sz="1467"/>
          </a:p>
        </p:txBody>
      </p:sp>
      <p:sp>
        <p:nvSpPr>
          <p:cNvPr id="4" name="Text 2"/>
          <p:cNvSpPr/>
          <p:nvPr/>
        </p:nvSpPr>
        <p:spPr>
          <a:xfrm>
            <a:off x="487680" y="731520"/>
            <a:ext cx="1121664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3450" b="1">
                <a:solidFill>
                  <a:srgbClr val="FFFFFF"/>
                </a:solidFill>
              </a:rPr>
              <a:t>The Core Idea</a:t>
            </a:r>
            <a:endParaRPr lang="en-US"/>
          </a:p>
        </p:txBody>
      </p:sp>
      <p:sp>
        <p:nvSpPr>
          <p:cNvPr id="5" name="Shape 3"/>
          <p:cNvSpPr/>
          <p:nvPr/>
        </p:nvSpPr>
        <p:spPr>
          <a:xfrm>
            <a:off x="421118" y="1493340"/>
            <a:ext cx="11310545" cy="2920208"/>
          </a:xfrm>
          <a:prstGeom prst="rect">
            <a:avLst/>
          </a:prstGeom>
          <a:solidFill>
            <a:srgbClr val="1B3A5C"/>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7" name="Text 5"/>
          <p:cNvSpPr/>
          <p:nvPr/>
        </p:nvSpPr>
        <p:spPr>
          <a:xfrm>
            <a:off x="603326" y="1521265"/>
            <a:ext cx="10967197" cy="2895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600">
                <a:solidFill>
                  <a:srgbClr val="FFFFFF"/>
                </a:solidFill>
                <a:ea typeface="+mn-lt"/>
                <a:cs typeface="+mn-lt"/>
              </a:rPr>
              <a:t>This project focuses on host-based forensic analysis and timeline reconstruction using the Digital Corpora 2009 M57 Patent Scenario dataset. The objective is to analyze a forensic disk image and reconstruct system activity by extracting timestamped artifacts from the system.</a:t>
            </a:r>
            <a:endParaRPr lang="en-US">
              <a:solidFill>
                <a:srgbClr val="000000"/>
              </a:solidFill>
              <a:ea typeface="+mn-lt"/>
              <a:cs typeface="+mn-lt"/>
            </a:endParaRPr>
          </a:p>
          <a:p>
            <a:endParaRPr lang="en-US" sz="1600">
              <a:solidFill>
                <a:srgbClr val="FFFFFF"/>
              </a:solidFill>
              <a:ea typeface="+mn-lt"/>
              <a:cs typeface="+mn-lt"/>
            </a:endParaRPr>
          </a:p>
          <a:p>
            <a:r>
              <a:rPr lang="en-US" sz="1600">
                <a:solidFill>
                  <a:srgbClr val="FFFFFF"/>
                </a:solidFill>
                <a:ea typeface="+mn-lt"/>
                <a:cs typeface="+mn-lt"/>
              </a:rPr>
              <a:t>Using </a:t>
            </a:r>
            <a:r>
              <a:rPr lang="en-US" sz="1600" err="1">
                <a:solidFill>
                  <a:srgbClr val="FFFFFF"/>
                </a:solidFill>
                <a:ea typeface="+mn-lt"/>
                <a:cs typeface="+mn-lt"/>
              </a:rPr>
              <a:t>Plaso</a:t>
            </a:r>
            <a:r>
              <a:rPr lang="en-US" sz="1600">
                <a:solidFill>
                  <a:srgbClr val="FFFFFF"/>
                </a:solidFill>
                <a:ea typeface="+mn-lt"/>
                <a:cs typeface="+mn-lt"/>
              </a:rPr>
              <a:t> (log2timeline), we process the disk image to generate a detailed timeline of events, including file system metadata, Windows event logs, and registry activity. These artifacts are then used to identify patterns of behavior and potential indicators of compromise.</a:t>
            </a:r>
            <a:endParaRPr lang="en-US">
              <a:solidFill>
                <a:srgbClr val="000000"/>
              </a:solidFill>
              <a:ea typeface="+mn-lt"/>
              <a:cs typeface="+mn-lt"/>
            </a:endParaRPr>
          </a:p>
          <a:p>
            <a:endParaRPr lang="en-US" sz="1600">
              <a:solidFill>
                <a:srgbClr val="FFFFFF"/>
              </a:solidFill>
              <a:ea typeface="+mn-lt"/>
              <a:cs typeface="+mn-lt"/>
            </a:endParaRPr>
          </a:p>
          <a:p>
            <a:r>
              <a:rPr lang="en-US" sz="1600">
                <a:solidFill>
                  <a:srgbClr val="FFFFFF"/>
                </a:solidFill>
                <a:ea typeface="+mn-lt"/>
                <a:cs typeface="+mn-lt"/>
              </a:rPr>
              <a:t>The generated timeline can be further visualized and analyzed using </a:t>
            </a:r>
            <a:r>
              <a:rPr lang="en-US" sz="1600" err="1">
                <a:solidFill>
                  <a:srgbClr val="FFFFFF"/>
                </a:solidFill>
                <a:ea typeface="+mn-lt"/>
                <a:cs typeface="+mn-lt"/>
              </a:rPr>
              <a:t>Timesketch</a:t>
            </a:r>
            <a:r>
              <a:rPr lang="en-US" sz="1600">
                <a:solidFill>
                  <a:srgbClr val="FFFFFF"/>
                </a:solidFill>
                <a:ea typeface="+mn-lt"/>
                <a:cs typeface="+mn-lt"/>
              </a:rPr>
              <a:t>, allowing investigators to correlate events and reconstruct how activity occurred on the system. This approach supports the incident response process by helping determine the scope of an incident and providing evidence-based conclusions.</a:t>
            </a:r>
            <a:endParaRPr lang="en-US">
              <a:ea typeface="Calibri" panose="020F0502020204030204"/>
              <a:cs typeface="Calibri" panose="020F0502020204030204"/>
            </a:endParaRPr>
          </a:p>
        </p:txBody>
      </p:sp>
      <p:sp>
        <p:nvSpPr>
          <p:cNvPr id="8" name="Shape 6"/>
          <p:cNvSpPr/>
          <p:nvPr/>
        </p:nvSpPr>
        <p:spPr>
          <a:xfrm>
            <a:off x="421116" y="4681771"/>
            <a:ext cx="3602244" cy="1869636"/>
          </a:xfrm>
          <a:prstGeom prst="rect">
            <a:avLst/>
          </a:prstGeom>
          <a:solidFill>
            <a:srgbClr val="112233"/>
          </a:solidFill>
          <a:ln w="12700">
            <a:solidFill>
              <a:srgbClr val="00B4D8"/>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grpSp>
        <p:nvGrpSpPr>
          <p:cNvPr id="30" name="Group 29">
            <a:extLst>
              <a:ext uri="{FF2B5EF4-FFF2-40B4-BE49-F238E27FC236}">
                <a16:creationId xmlns:a16="http://schemas.microsoft.com/office/drawing/2014/main" id="{4CF7EC29-6F00-9226-3E94-5DA22FA0537D}"/>
              </a:ext>
            </a:extLst>
          </p:cNvPr>
          <p:cNvGrpSpPr/>
          <p:nvPr/>
        </p:nvGrpSpPr>
        <p:grpSpPr>
          <a:xfrm>
            <a:off x="426720" y="4687375"/>
            <a:ext cx="3596640" cy="463296"/>
            <a:chOff x="426720" y="2950464"/>
            <a:chExt cx="3596640" cy="463296"/>
          </a:xfrm>
        </p:grpSpPr>
        <p:sp>
          <p:nvSpPr>
            <p:cNvPr id="9" name="Shape 7"/>
            <p:cNvSpPr/>
            <p:nvPr/>
          </p:nvSpPr>
          <p:spPr>
            <a:xfrm>
              <a:off x="426720" y="2950464"/>
              <a:ext cx="3596640" cy="463296"/>
            </a:xfrm>
            <a:prstGeom prst="rect">
              <a:avLst/>
            </a:prstGeom>
            <a:solidFill>
              <a:srgbClr val="00B4D8"/>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0" name="Text 8"/>
            <p:cNvSpPr/>
            <p:nvPr/>
          </p:nvSpPr>
          <p:spPr>
            <a:xfrm>
              <a:off x="548640" y="2974848"/>
              <a:ext cx="3352800"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0D1B2A"/>
                  </a:solidFill>
                </a:rPr>
                <a:t>Extract</a:t>
              </a:r>
              <a:endParaRPr lang="en-US" sz="1867"/>
            </a:p>
          </p:txBody>
        </p:sp>
      </p:grpSp>
      <p:sp>
        <p:nvSpPr>
          <p:cNvPr id="11" name="Text 9"/>
          <p:cNvSpPr/>
          <p:nvPr/>
        </p:nvSpPr>
        <p:spPr>
          <a:xfrm>
            <a:off x="603010" y="5300606"/>
            <a:ext cx="3249662" cy="549985"/>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50">
                <a:solidFill>
                  <a:srgbClr val="FFFFFF"/>
                </a:solidFill>
              </a:rPr>
              <a:t>Pull every timestamped artifact from a disk image, without altering the evidence</a:t>
            </a:r>
            <a:endParaRPr lang="en-US" sz="1450"/>
          </a:p>
        </p:txBody>
      </p:sp>
      <p:sp>
        <p:nvSpPr>
          <p:cNvPr id="12" name="Shape 10"/>
          <p:cNvSpPr/>
          <p:nvPr/>
        </p:nvSpPr>
        <p:spPr>
          <a:xfrm>
            <a:off x="597408" y="6039343"/>
            <a:ext cx="3255264" cy="390144"/>
          </a:xfrm>
          <a:prstGeom prst="rect">
            <a:avLst/>
          </a:prstGeom>
          <a:solidFill>
            <a:srgbClr val="00B4D8">
              <a:alpha val="30000"/>
            </a:srgbClr>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3" name="Text 11"/>
          <p:cNvSpPr/>
          <p:nvPr/>
        </p:nvSpPr>
        <p:spPr>
          <a:xfrm>
            <a:off x="597408" y="6051535"/>
            <a:ext cx="3255264"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Plaso does this</a:t>
            </a:r>
            <a:endParaRPr lang="en-US" sz="1333"/>
          </a:p>
        </p:txBody>
      </p:sp>
      <p:sp>
        <p:nvSpPr>
          <p:cNvPr id="14" name="Shape 12"/>
          <p:cNvSpPr/>
          <p:nvPr/>
        </p:nvSpPr>
        <p:spPr>
          <a:xfrm>
            <a:off x="4261597" y="4692978"/>
            <a:ext cx="3602243" cy="1858429"/>
          </a:xfrm>
          <a:prstGeom prst="rect">
            <a:avLst/>
          </a:prstGeom>
          <a:solidFill>
            <a:srgbClr val="112233"/>
          </a:solidFill>
          <a:ln w="12700">
            <a:solidFill>
              <a:srgbClr val="F4A261"/>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grpSp>
        <p:nvGrpSpPr>
          <p:cNvPr id="29" name="Group 28">
            <a:extLst>
              <a:ext uri="{FF2B5EF4-FFF2-40B4-BE49-F238E27FC236}">
                <a16:creationId xmlns:a16="http://schemas.microsoft.com/office/drawing/2014/main" id="{7B30FB2B-BB75-6B38-437D-EA18539AEE47}"/>
              </a:ext>
            </a:extLst>
          </p:cNvPr>
          <p:cNvGrpSpPr/>
          <p:nvPr/>
        </p:nvGrpSpPr>
        <p:grpSpPr>
          <a:xfrm>
            <a:off x="4267200" y="4687376"/>
            <a:ext cx="3596640" cy="463296"/>
            <a:chOff x="4267200" y="2950464"/>
            <a:chExt cx="3596640" cy="463296"/>
          </a:xfrm>
        </p:grpSpPr>
        <p:sp>
          <p:nvSpPr>
            <p:cNvPr id="15" name="Shape 13"/>
            <p:cNvSpPr/>
            <p:nvPr/>
          </p:nvSpPr>
          <p:spPr>
            <a:xfrm>
              <a:off x="4267200" y="2950464"/>
              <a:ext cx="3596640" cy="463296"/>
            </a:xfrm>
            <a:prstGeom prst="rect">
              <a:avLst/>
            </a:prstGeom>
            <a:solidFill>
              <a:srgbClr val="F4A261"/>
            </a:solidFill>
            <a:ln w="12700">
              <a:solidFill>
                <a:srgbClr val="F4A261"/>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6" name="Text 14"/>
            <p:cNvSpPr/>
            <p:nvPr/>
          </p:nvSpPr>
          <p:spPr>
            <a:xfrm>
              <a:off x="4389120" y="2974848"/>
              <a:ext cx="3352800"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0D1B2A"/>
                  </a:solidFill>
                </a:rPr>
                <a:t>Correlate</a:t>
              </a:r>
              <a:endParaRPr lang="en-US" sz="1867"/>
            </a:p>
          </p:txBody>
        </p:sp>
      </p:grpSp>
      <p:sp>
        <p:nvSpPr>
          <p:cNvPr id="17" name="Text 15"/>
          <p:cNvSpPr/>
          <p:nvPr/>
        </p:nvSpPr>
        <p:spPr>
          <a:xfrm>
            <a:off x="4437888" y="5300606"/>
            <a:ext cx="3255264" cy="549985"/>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a:solidFill>
                  <a:srgbClr val="FFFFFF"/>
                </a:solidFill>
              </a:rPr>
              <a:t>Combine events from multiple sources into one unified chronological timeline</a:t>
            </a:r>
            <a:endParaRPr lang="en-US" sz="1467"/>
          </a:p>
        </p:txBody>
      </p:sp>
      <p:sp>
        <p:nvSpPr>
          <p:cNvPr id="18" name="Shape 16"/>
          <p:cNvSpPr/>
          <p:nvPr/>
        </p:nvSpPr>
        <p:spPr>
          <a:xfrm>
            <a:off x="4437888" y="6039343"/>
            <a:ext cx="3255264" cy="390144"/>
          </a:xfrm>
          <a:prstGeom prst="rect">
            <a:avLst/>
          </a:prstGeom>
          <a:solidFill>
            <a:srgbClr val="F4A261">
              <a:alpha val="30000"/>
            </a:srgbClr>
          </a:solidFill>
          <a:ln w="12700">
            <a:solidFill>
              <a:srgbClr val="F4A261"/>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9" name="Text 17"/>
          <p:cNvSpPr/>
          <p:nvPr/>
        </p:nvSpPr>
        <p:spPr>
          <a:xfrm>
            <a:off x="4437888" y="6051535"/>
            <a:ext cx="3255264"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Plaso + CSV</a:t>
            </a:r>
            <a:endParaRPr lang="en-US" sz="1333"/>
          </a:p>
        </p:txBody>
      </p:sp>
      <p:sp>
        <p:nvSpPr>
          <p:cNvPr id="20" name="Shape 18"/>
          <p:cNvSpPr/>
          <p:nvPr/>
        </p:nvSpPr>
        <p:spPr>
          <a:xfrm>
            <a:off x="8102078" y="4777022"/>
            <a:ext cx="3596640" cy="1774385"/>
          </a:xfrm>
          <a:prstGeom prst="rect">
            <a:avLst/>
          </a:prstGeom>
          <a:solidFill>
            <a:srgbClr val="112233"/>
          </a:solidFill>
          <a:ln w="12700">
            <a:solidFill>
              <a:srgbClr val="2DC653"/>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grpSp>
        <p:nvGrpSpPr>
          <p:cNvPr id="28" name="Group 27">
            <a:extLst>
              <a:ext uri="{FF2B5EF4-FFF2-40B4-BE49-F238E27FC236}">
                <a16:creationId xmlns:a16="http://schemas.microsoft.com/office/drawing/2014/main" id="{ADE7E70E-012F-9179-D013-EFC3E903EA9B}"/>
              </a:ext>
            </a:extLst>
          </p:cNvPr>
          <p:cNvGrpSpPr/>
          <p:nvPr/>
        </p:nvGrpSpPr>
        <p:grpSpPr>
          <a:xfrm>
            <a:off x="8102077" y="4687376"/>
            <a:ext cx="3596640" cy="463296"/>
            <a:chOff x="8107680" y="2950464"/>
            <a:chExt cx="3596640" cy="463296"/>
          </a:xfrm>
        </p:grpSpPr>
        <p:sp>
          <p:nvSpPr>
            <p:cNvPr id="21" name="Shape 19"/>
            <p:cNvSpPr/>
            <p:nvPr/>
          </p:nvSpPr>
          <p:spPr>
            <a:xfrm>
              <a:off x="8107680" y="2950464"/>
              <a:ext cx="3596640" cy="463296"/>
            </a:xfrm>
            <a:prstGeom prst="rect">
              <a:avLst/>
            </a:prstGeom>
            <a:solidFill>
              <a:srgbClr val="2DC653"/>
            </a:solidFill>
            <a:ln w="12700">
              <a:solidFill>
                <a:srgbClr val="2DC653"/>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2" name="Text 20"/>
            <p:cNvSpPr/>
            <p:nvPr/>
          </p:nvSpPr>
          <p:spPr>
            <a:xfrm>
              <a:off x="8229600" y="2974848"/>
              <a:ext cx="3352800"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867" b="1">
                  <a:solidFill>
                    <a:srgbClr val="0D1B2A"/>
                  </a:solidFill>
                </a:rPr>
                <a:t>Visualize</a:t>
              </a:r>
              <a:endParaRPr lang="en-US" sz="1867"/>
            </a:p>
          </p:txBody>
        </p:sp>
      </p:grpSp>
      <p:sp>
        <p:nvSpPr>
          <p:cNvPr id="23" name="Text 21"/>
          <p:cNvSpPr/>
          <p:nvPr/>
        </p:nvSpPr>
        <p:spPr>
          <a:xfrm>
            <a:off x="8278368" y="5351033"/>
            <a:ext cx="3283278" cy="44913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a:solidFill>
                  <a:srgbClr val="FFFFFF"/>
                </a:solidFill>
              </a:rPr>
              <a:t>Search, tag, annotate, and present the timeline to investigators and courts</a:t>
            </a:r>
            <a:endParaRPr lang="en-US" sz="1467"/>
          </a:p>
        </p:txBody>
      </p:sp>
      <p:sp>
        <p:nvSpPr>
          <p:cNvPr id="24" name="Shape 22"/>
          <p:cNvSpPr/>
          <p:nvPr/>
        </p:nvSpPr>
        <p:spPr>
          <a:xfrm>
            <a:off x="8278368" y="6039343"/>
            <a:ext cx="3255264" cy="390144"/>
          </a:xfrm>
          <a:prstGeom prst="rect">
            <a:avLst/>
          </a:prstGeom>
          <a:solidFill>
            <a:srgbClr val="2DC653">
              <a:alpha val="30000"/>
            </a:srgbClr>
          </a:solidFill>
          <a:ln w="12700">
            <a:solidFill>
              <a:srgbClr val="2DC653"/>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5" name="Text 23"/>
          <p:cNvSpPr/>
          <p:nvPr/>
        </p:nvSpPr>
        <p:spPr>
          <a:xfrm>
            <a:off x="8278368" y="6051535"/>
            <a:ext cx="3255264"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333" b="1">
                <a:solidFill>
                  <a:srgbClr val="FFFFFF"/>
                </a:solidFill>
              </a:rPr>
              <a:t>Timesketch does this</a:t>
            </a:r>
            <a:endParaRPr lang="en-US" sz="1333"/>
          </a:p>
        </p:txBody>
      </p:sp>
    </p:spTree>
    <p:extLst>
      <p:ext uri="{BB962C8B-B14F-4D97-AF65-F5344CB8AC3E}">
        <p14:creationId xmlns:p14="http://schemas.microsoft.com/office/powerpoint/2010/main" val="488451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8E97A268-DA25-B198-63E4-6757C8F20EB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C073232-AD5E-B316-ECEC-1FE0D9439214}"/>
              </a:ext>
            </a:extLst>
          </p:cNvPr>
          <p:cNvSpPr/>
          <p:nvPr/>
        </p:nvSpPr>
        <p:spPr>
          <a:xfrm>
            <a:off x="0" y="0"/>
            <a:ext cx="146304" cy="6858000"/>
          </a:xfrm>
          <a:prstGeom prst="rect">
            <a:avLst/>
          </a:prstGeom>
          <a:solidFill>
            <a:srgbClr val="00B4D8"/>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 name="Text 1">
            <a:extLst>
              <a:ext uri="{FF2B5EF4-FFF2-40B4-BE49-F238E27FC236}">
                <a16:creationId xmlns:a16="http://schemas.microsoft.com/office/drawing/2014/main" id="{CD624337-AC01-0A45-172C-72581E148B66}"/>
              </a:ext>
            </a:extLst>
          </p:cNvPr>
          <p:cNvSpPr/>
          <p:nvPr/>
        </p:nvSpPr>
        <p:spPr>
          <a:xfrm>
            <a:off x="487680" y="304800"/>
            <a:ext cx="1097280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kern="0" spc="533">
                <a:solidFill>
                  <a:srgbClr val="00B4D8"/>
                </a:solidFill>
              </a:rPr>
              <a:t>TOOL DEEP DIVE</a:t>
            </a:r>
            <a:endParaRPr lang="en-US" sz="1467"/>
          </a:p>
        </p:txBody>
      </p:sp>
      <p:sp>
        <p:nvSpPr>
          <p:cNvPr id="4" name="Text 2">
            <a:extLst>
              <a:ext uri="{FF2B5EF4-FFF2-40B4-BE49-F238E27FC236}">
                <a16:creationId xmlns:a16="http://schemas.microsoft.com/office/drawing/2014/main" id="{BEE049B0-1C00-D718-F535-C09EEBD6070A}"/>
              </a:ext>
            </a:extLst>
          </p:cNvPr>
          <p:cNvSpPr/>
          <p:nvPr/>
        </p:nvSpPr>
        <p:spPr>
          <a:xfrm>
            <a:off x="487680" y="702055"/>
            <a:ext cx="1121664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3450" b="1">
                <a:solidFill>
                  <a:srgbClr val="FFFFFF"/>
                </a:solidFill>
              </a:rPr>
              <a:t>Selected Tools</a:t>
            </a:r>
            <a:endParaRPr lang="en-US"/>
          </a:p>
        </p:txBody>
      </p:sp>
      <p:sp>
        <p:nvSpPr>
          <p:cNvPr id="47" name="Shape 4">
            <a:extLst>
              <a:ext uri="{FF2B5EF4-FFF2-40B4-BE49-F238E27FC236}">
                <a16:creationId xmlns:a16="http://schemas.microsoft.com/office/drawing/2014/main" id="{6D6882D4-4A8A-DB21-8D2A-5A802A6973CF}"/>
              </a:ext>
            </a:extLst>
          </p:cNvPr>
          <p:cNvSpPr/>
          <p:nvPr/>
        </p:nvSpPr>
        <p:spPr>
          <a:xfrm>
            <a:off x="416354" y="1425877"/>
            <a:ext cx="11346437" cy="1856966"/>
          </a:xfrm>
          <a:prstGeom prst="rect">
            <a:avLst/>
          </a:prstGeom>
          <a:solidFill>
            <a:srgbClr val="112233"/>
          </a:solidFill>
          <a:ln w="12700">
            <a:solidFill>
              <a:srgbClr val="0077A8"/>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49" name="Shape 5">
            <a:extLst>
              <a:ext uri="{FF2B5EF4-FFF2-40B4-BE49-F238E27FC236}">
                <a16:creationId xmlns:a16="http://schemas.microsoft.com/office/drawing/2014/main" id="{402022C1-E9E0-1291-4D61-8816C48834E7}"/>
              </a:ext>
            </a:extLst>
          </p:cNvPr>
          <p:cNvSpPr/>
          <p:nvPr/>
        </p:nvSpPr>
        <p:spPr>
          <a:xfrm>
            <a:off x="411170" y="1420693"/>
            <a:ext cx="11356805" cy="426720"/>
          </a:xfrm>
          <a:prstGeom prst="rect">
            <a:avLst/>
          </a:prstGeom>
          <a:solidFill>
            <a:srgbClr val="0077A8"/>
          </a:solidFill>
          <a:ln w="12700">
            <a:solidFill>
              <a:srgbClr val="0077A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51" name="Text 6">
            <a:extLst>
              <a:ext uri="{FF2B5EF4-FFF2-40B4-BE49-F238E27FC236}">
                <a16:creationId xmlns:a16="http://schemas.microsoft.com/office/drawing/2014/main" id="{21033434-79C5-55CF-6F1F-C2E1D2F2BFA5}"/>
              </a:ext>
            </a:extLst>
          </p:cNvPr>
          <p:cNvSpPr/>
          <p:nvPr/>
        </p:nvSpPr>
        <p:spPr>
          <a:xfrm>
            <a:off x="645886" y="1445077"/>
            <a:ext cx="499872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600" b="1">
                <a:solidFill>
                  <a:srgbClr val="FFFFFF"/>
                </a:solidFill>
              </a:rPr>
              <a:t>log2timeline/</a:t>
            </a:r>
            <a:r>
              <a:rPr lang="en-US" sz="1600" b="1" err="1">
                <a:solidFill>
                  <a:srgbClr val="FFFFFF"/>
                </a:solidFill>
              </a:rPr>
              <a:t>plaso</a:t>
            </a:r>
            <a:r>
              <a:rPr lang="en-US" sz="1600" b="1">
                <a:solidFill>
                  <a:srgbClr val="FFFFFF"/>
                </a:solidFill>
              </a:rPr>
              <a:t> </a:t>
            </a:r>
            <a:endParaRPr lang="en-US"/>
          </a:p>
        </p:txBody>
      </p:sp>
      <p:sp>
        <p:nvSpPr>
          <p:cNvPr id="53" name="Text 7">
            <a:extLst>
              <a:ext uri="{FF2B5EF4-FFF2-40B4-BE49-F238E27FC236}">
                <a16:creationId xmlns:a16="http://schemas.microsoft.com/office/drawing/2014/main" id="{2C358016-46A3-7384-9E4E-DBBB5CEEBBCE}"/>
              </a:ext>
            </a:extLst>
          </p:cNvPr>
          <p:cNvSpPr/>
          <p:nvPr/>
        </p:nvSpPr>
        <p:spPr>
          <a:xfrm>
            <a:off x="601417" y="1932757"/>
            <a:ext cx="11085304" cy="124095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85750" indent="-285750">
              <a:buSzPct val="100000"/>
              <a:buFont typeface="Arial"/>
              <a:buChar char="•"/>
            </a:pPr>
            <a:r>
              <a:rPr lang="en-US" sz="1600">
                <a:solidFill>
                  <a:srgbClr val="FFFFFF"/>
                </a:solidFill>
                <a:ea typeface="+mn-lt"/>
                <a:cs typeface="+mn-lt"/>
              </a:rPr>
              <a:t>It is a python-based open source tool.</a:t>
            </a:r>
            <a:endParaRPr lang="en-US" sz="1600">
              <a:solidFill>
                <a:srgbClr val="000000"/>
              </a:solidFill>
              <a:ea typeface="+mn-lt"/>
              <a:cs typeface="+mn-lt"/>
            </a:endParaRPr>
          </a:p>
          <a:p>
            <a:pPr marL="285750" indent="-285750">
              <a:buSzPct val="100000"/>
              <a:buFont typeface="Arial"/>
              <a:buChar char="•"/>
            </a:pPr>
            <a:r>
              <a:rPr lang="en-US" sz="1600">
                <a:solidFill>
                  <a:srgbClr val="FFFFFF"/>
                </a:solidFill>
                <a:ea typeface="+mn-lt"/>
                <a:cs typeface="+mn-lt"/>
              </a:rPr>
              <a:t>It extracts and normalizes timestamps from across hundreds of forensics artifact types into a single .</a:t>
            </a:r>
            <a:r>
              <a:rPr lang="en-US" sz="1600" err="1">
                <a:solidFill>
                  <a:srgbClr val="FFFFFF"/>
                </a:solidFill>
                <a:ea typeface="+mn-lt"/>
                <a:cs typeface="+mn-lt"/>
              </a:rPr>
              <a:t>plaso</a:t>
            </a:r>
            <a:r>
              <a:rPr lang="en-US" sz="1600">
                <a:solidFill>
                  <a:srgbClr val="FFFFFF"/>
                </a:solidFill>
                <a:ea typeface="+mn-lt"/>
                <a:cs typeface="+mn-lt"/>
              </a:rPr>
              <a:t> storage file.</a:t>
            </a:r>
            <a:endParaRPr lang="en-US" sz="1600">
              <a:solidFill>
                <a:srgbClr val="000000"/>
              </a:solidFill>
              <a:ea typeface="+mn-lt"/>
              <a:cs typeface="+mn-lt"/>
            </a:endParaRPr>
          </a:p>
          <a:p>
            <a:pPr marL="285750" indent="-285750">
              <a:buFont typeface="Arial"/>
              <a:buChar char="•"/>
            </a:pPr>
            <a:r>
              <a:rPr lang="en-US" sz="1600">
                <a:solidFill>
                  <a:srgbClr val="FFFFFF"/>
                </a:solidFill>
                <a:ea typeface="+mn-lt"/>
                <a:cs typeface="+mn-lt"/>
              </a:rPr>
              <a:t>Key features includes</a:t>
            </a:r>
            <a:endParaRPr lang="en-US" sz="1600">
              <a:solidFill>
                <a:srgbClr val="000000"/>
              </a:solidFill>
              <a:ea typeface="+mn-lt"/>
              <a:cs typeface="+mn-lt"/>
            </a:endParaRPr>
          </a:p>
          <a:p>
            <a:pPr marL="894715" lvl="1" indent="-285750">
              <a:buFont typeface="Courier New"/>
              <a:buChar char="o"/>
            </a:pPr>
            <a:r>
              <a:rPr lang="en-US" sz="1600">
                <a:solidFill>
                  <a:srgbClr val="FFFFFF"/>
                </a:solidFill>
                <a:ea typeface="+mn-lt"/>
                <a:cs typeface="+mn-lt"/>
              </a:rPr>
              <a:t>800+ parsers which process windows registry, event logs, browser history, macOS artifacts, </a:t>
            </a:r>
            <a:r>
              <a:rPr lang="en-US" sz="1600" err="1">
                <a:solidFill>
                  <a:srgbClr val="FFFFFF"/>
                </a:solidFill>
                <a:ea typeface="+mn-lt"/>
                <a:cs typeface="+mn-lt"/>
              </a:rPr>
              <a:t>linux</a:t>
            </a:r>
            <a:r>
              <a:rPr lang="en-US" sz="1600">
                <a:solidFill>
                  <a:srgbClr val="FFFFFF"/>
                </a:solidFill>
                <a:ea typeface="+mn-lt"/>
                <a:cs typeface="+mn-lt"/>
              </a:rPr>
              <a:t> logs etc.</a:t>
            </a:r>
            <a:endParaRPr lang="en-US" sz="1600">
              <a:ea typeface="Calibri" panose="020F0502020204030204"/>
              <a:cs typeface="Calibri" panose="020F0502020204030204"/>
            </a:endParaRPr>
          </a:p>
        </p:txBody>
      </p:sp>
      <p:sp>
        <p:nvSpPr>
          <p:cNvPr id="82" name="Shape 12">
            <a:extLst>
              <a:ext uri="{FF2B5EF4-FFF2-40B4-BE49-F238E27FC236}">
                <a16:creationId xmlns:a16="http://schemas.microsoft.com/office/drawing/2014/main" id="{0E59BE28-E423-E972-0B8A-91C7865F1029}"/>
              </a:ext>
            </a:extLst>
          </p:cNvPr>
          <p:cNvSpPr/>
          <p:nvPr/>
        </p:nvSpPr>
        <p:spPr>
          <a:xfrm>
            <a:off x="410962" y="3493888"/>
            <a:ext cx="11343950" cy="3074586"/>
          </a:xfrm>
          <a:prstGeom prst="rect">
            <a:avLst/>
          </a:prstGeom>
          <a:solidFill>
            <a:srgbClr val="112233"/>
          </a:solidFill>
          <a:ln w="12700">
            <a:solidFill>
              <a:srgbClr val="1B3A5C"/>
            </a:solidFill>
            <a:prstDash val="solid"/>
          </a:ln>
          <a:effectLst>
            <a:outerShdw blurRad="101600" dist="38100" dir="8100000" algn="bl" rotWithShape="0">
              <a:srgbClr val="000000">
                <a:alpha val="25000"/>
              </a:srgbClr>
            </a:outerShdw>
          </a:effectLst>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83" name="Shape 13">
            <a:extLst>
              <a:ext uri="{FF2B5EF4-FFF2-40B4-BE49-F238E27FC236}">
                <a16:creationId xmlns:a16="http://schemas.microsoft.com/office/drawing/2014/main" id="{EE7ABDE4-ED8C-EA60-61FA-BA2ABF360400}"/>
              </a:ext>
            </a:extLst>
          </p:cNvPr>
          <p:cNvSpPr/>
          <p:nvPr/>
        </p:nvSpPr>
        <p:spPr>
          <a:xfrm>
            <a:off x="416146" y="3499072"/>
            <a:ext cx="11343950" cy="400802"/>
          </a:xfrm>
          <a:prstGeom prst="rect">
            <a:avLst/>
          </a:prstGeom>
          <a:solidFill>
            <a:srgbClr val="1B3A5C"/>
          </a:solidFill>
          <a:ln w="12700">
            <a:solidFill>
              <a:srgbClr val="1B3A5C"/>
            </a:solidFill>
            <a:prstDash val="solid"/>
          </a:ln>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84" name="Text 14">
            <a:extLst>
              <a:ext uri="{FF2B5EF4-FFF2-40B4-BE49-F238E27FC236}">
                <a16:creationId xmlns:a16="http://schemas.microsoft.com/office/drawing/2014/main" id="{F9890F65-12AF-94A2-0D7E-67E41D935D94}"/>
              </a:ext>
            </a:extLst>
          </p:cNvPr>
          <p:cNvSpPr/>
          <p:nvPr/>
        </p:nvSpPr>
        <p:spPr>
          <a:xfrm>
            <a:off x="599026" y="3513089"/>
            <a:ext cx="5120640" cy="365760"/>
          </a:xfrm>
          <a:prstGeom prst="rect">
            <a:avLst/>
          </a:prstGeom>
          <a:noFill/>
          <a:ln/>
        </p:spPr>
        <p:txBody>
          <a:bodyPr wrap="square" lIns="0" tIns="0" rIns="0" bIns="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err="1">
                <a:solidFill>
                  <a:srgbClr val="00B4D8"/>
                </a:solidFill>
              </a:rPr>
              <a:t>Timesketch</a:t>
            </a:r>
            <a:endParaRPr lang="en-US" err="1"/>
          </a:p>
        </p:txBody>
      </p:sp>
      <p:sp>
        <p:nvSpPr>
          <p:cNvPr id="85" name="Text 7">
            <a:extLst>
              <a:ext uri="{FF2B5EF4-FFF2-40B4-BE49-F238E27FC236}">
                <a16:creationId xmlns:a16="http://schemas.microsoft.com/office/drawing/2014/main" id="{C2EE29B6-D8CD-F874-53F7-C7A4F39DF72A}"/>
              </a:ext>
            </a:extLst>
          </p:cNvPr>
          <p:cNvSpPr/>
          <p:nvPr/>
        </p:nvSpPr>
        <p:spPr>
          <a:xfrm>
            <a:off x="602371" y="3990401"/>
            <a:ext cx="10878504" cy="2486805"/>
          </a:xfrm>
          <a:prstGeom prst="rect">
            <a:avLst/>
          </a:prstGeom>
          <a:noFill/>
          <a:ln/>
        </p:spPr>
        <p:txBody>
          <a:bodyPr wrap="square" lIns="0" tIns="0" rIns="0" bIns="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85750" indent="-285750">
              <a:buSzPct val="100000"/>
              <a:buFont typeface="Arial"/>
              <a:buChar char="•"/>
            </a:pPr>
            <a:r>
              <a:rPr lang="en-US" sz="1600">
                <a:solidFill>
                  <a:srgbClr val="FFFFFF"/>
                </a:solidFill>
                <a:ea typeface="+mn-lt"/>
                <a:cs typeface="+mn-lt"/>
              </a:rPr>
              <a:t>It is an open source tool that formulates a forensics timeline analysis.</a:t>
            </a:r>
            <a:endParaRPr lang="en-US" sz="1600">
              <a:solidFill>
                <a:srgbClr val="000000"/>
              </a:solidFill>
              <a:ea typeface="+mn-lt"/>
              <a:cs typeface="+mn-lt"/>
            </a:endParaRPr>
          </a:p>
          <a:p>
            <a:pPr marL="285750" indent="-285750">
              <a:buSzPct val="100000"/>
              <a:buFont typeface="Arial"/>
              <a:buChar char="•"/>
            </a:pPr>
            <a:r>
              <a:rPr lang="en-US" sz="1600">
                <a:solidFill>
                  <a:srgbClr val="FFFFFF"/>
                </a:solidFill>
                <a:ea typeface="+mn-lt"/>
                <a:cs typeface="+mn-lt"/>
              </a:rPr>
              <a:t>It utilizes the .</a:t>
            </a:r>
            <a:r>
              <a:rPr lang="en-US" sz="1600" err="1">
                <a:solidFill>
                  <a:srgbClr val="FFFFFF"/>
                </a:solidFill>
                <a:ea typeface="+mn-lt"/>
                <a:cs typeface="+mn-lt"/>
              </a:rPr>
              <a:t>plaso</a:t>
            </a:r>
            <a:r>
              <a:rPr lang="en-US" sz="1600">
                <a:solidFill>
                  <a:srgbClr val="FFFFFF"/>
                </a:solidFill>
                <a:ea typeface="+mn-lt"/>
                <a:cs typeface="+mn-lt"/>
              </a:rPr>
              <a:t> file that contains our dataset and provides a web based interface that allows investigators to easily share, annotate or tag and visualize the forensic event. This helps forensics and incident response teams collaborate much easily. </a:t>
            </a:r>
            <a:endParaRPr lang="en-US" sz="1600">
              <a:ea typeface="Calibri" panose="020F0502020204030204"/>
              <a:cs typeface="Calibri" panose="020F0502020204030204"/>
            </a:endParaRPr>
          </a:p>
          <a:p>
            <a:pPr marL="285750" indent="-285750">
              <a:buSzPct val="100000"/>
              <a:buFont typeface="Arial"/>
              <a:buChar char="•"/>
            </a:pPr>
            <a:r>
              <a:rPr lang="en-US" sz="1600">
                <a:solidFill>
                  <a:srgbClr val="FFFFFF"/>
                </a:solidFill>
                <a:ea typeface="+mn-lt"/>
                <a:cs typeface="+mn-lt"/>
              </a:rPr>
              <a:t>Key features:</a:t>
            </a:r>
            <a:endParaRPr lang="en-US" sz="1600">
              <a:solidFill>
                <a:srgbClr val="000000"/>
              </a:solidFill>
              <a:ea typeface="+mn-lt"/>
              <a:cs typeface="+mn-lt"/>
            </a:endParaRPr>
          </a:p>
          <a:p>
            <a:pPr marL="894715" lvl="1" indent="-285750">
              <a:buSzPct val="100000"/>
              <a:buFont typeface="Courier New"/>
              <a:buChar char="o"/>
            </a:pPr>
            <a:r>
              <a:rPr lang="en-US" sz="1600">
                <a:solidFill>
                  <a:srgbClr val="FFFFFF"/>
                </a:solidFill>
                <a:ea typeface="+mn-lt"/>
                <a:cs typeface="+mn-lt"/>
              </a:rPr>
              <a:t>Powerful search tool that’s able to hunt through millions of events and save searches that you want to highlight to your team</a:t>
            </a:r>
            <a:endParaRPr lang="en-US" sz="1600">
              <a:solidFill>
                <a:srgbClr val="000000"/>
              </a:solidFill>
              <a:ea typeface="+mn-lt"/>
              <a:cs typeface="+mn-lt"/>
            </a:endParaRPr>
          </a:p>
          <a:p>
            <a:pPr marL="894715" lvl="1" indent="-285750">
              <a:buSzPct val="100000"/>
              <a:buFont typeface="Courier New"/>
              <a:buChar char="o"/>
            </a:pPr>
            <a:r>
              <a:rPr lang="en-US" sz="1600">
                <a:solidFill>
                  <a:srgbClr val="FFFFFF"/>
                </a:solidFill>
                <a:ea typeface="+mn-lt"/>
                <a:cs typeface="+mn-lt"/>
              </a:rPr>
              <a:t>you can edit events and customize the labels (ex: 'exfiltration'), there are built in charts that can spot spikes in activity that may help analysts correlate events across multiple data sources.</a:t>
            </a:r>
            <a:endParaRPr lang="en-US" sz="1600">
              <a:solidFill>
                <a:srgbClr val="000000"/>
              </a:solidFill>
              <a:ea typeface="+mn-lt"/>
              <a:cs typeface="+mn-lt"/>
            </a:endParaRPr>
          </a:p>
          <a:p>
            <a:pPr marL="285750" indent="-285750">
              <a:buSzPct val="100000"/>
              <a:buFont typeface="Arial"/>
              <a:buChar char="•"/>
            </a:pPr>
            <a:r>
              <a:rPr lang="en-US" sz="1600">
                <a:solidFill>
                  <a:srgbClr val="FFFFFF"/>
                </a:solidFill>
                <a:ea typeface="+mn-lt"/>
                <a:cs typeface="+mn-lt"/>
              </a:rPr>
              <a:t>Fun fact - </a:t>
            </a:r>
            <a:r>
              <a:rPr lang="en-US" sz="1600" err="1">
                <a:solidFill>
                  <a:srgbClr val="FFFFFF"/>
                </a:solidFill>
                <a:ea typeface="+mn-lt"/>
                <a:cs typeface="+mn-lt"/>
              </a:rPr>
              <a:t>timesketch</a:t>
            </a:r>
            <a:r>
              <a:rPr lang="en-US" sz="1600">
                <a:solidFill>
                  <a:srgbClr val="FFFFFF"/>
                </a:solidFill>
                <a:ea typeface="+mn-lt"/>
                <a:cs typeface="+mn-lt"/>
              </a:rPr>
              <a:t> can even spot attack patterns and TTPs aligned with the MITRE ATT&amp;CK framework</a:t>
            </a:r>
            <a:endParaRPr lang="en-US" sz="1600">
              <a:ea typeface="Calibri" panose="020F0502020204030204"/>
              <a:cs typeface="Calibri" panose="020F0502020204030204"/>
            </a:endParaRPr>
          </a:p>
        </p:txBody>
      </p:sp>
      <p:pic>
        <p:nvPicPr>
          <p:cNvPr id="86" name="Picture 85" descr="A logo for a company&#10;&#10;AI-generated content may be incorrect.">
            <a:extLst>
              <a:ext uri="{FF2B5EF4-FFF2-40B4-BE49-F238E27FC236}">
                <a16:creationId xmlns:a16="http://schemas.microsoft.com/office/drawing/2014/main" id="{735458C7-7B9F-C229-CB99-962442EC0CA4}"/>
              </a:ext>
            </a:extLst>
          </p:cNvPr>
          <p:cNvPicPr>
            <a:picLocks noChangeAspect="1"/>
          </p:cNvPicPr>
          <p:nvPr/>
        </p:nvPicPr>
        <p:blipFill>
          <a:blip r:embed="rId3"/>
          <a:srcRect l="17021" t="28682" r="23624" b="28077"/>
          <a:stretch>
            <a:fillRect/>
          </a:stretch>
        </p:blipFill>
        <p:spPr>
          <a:xfrm>
            <a:off x="9369921" y="392446"/>
            <a:ext cx="2399475" cy="805088"/>
          </a:xfrm>
          <a:prstGeom prst="rect">
            <a:avLst/>
          </a:prstGeom>
        </p:spPr>
      </p:pic>
      <p:pic>
        <p:nvPicPr>
          <p:cNvPr id="87" name="Picture 86" descr="A screenshot of a computer&#10;&#10;AI-generated content may be incorrect.">
            <a:extLst>
              <a:ext uri="{FF2B5EF4-FFF2-40B4-BE49-F238E27FC236}">
                <a16:creationId xmlns:a16="http://schemas.microsoft.com/office/drawing/2014/main" id="{898CCCDF-B171-F7D5-DE1E-7F06F1BF3775}"/>
              </a:ext>
            </a:extLst>
          </p:cNvPr>
          <p:cNvPicPr>
            <a:picLocks noChangeAspect="1"/>
          </p:cNvPicPr>
          <p:nvPr/>
        </p:nvPicPr>
        <p:blipFill>
          <a:blip r:embed="rId4"/>
          <a:srcRect l="3170" t="12072" r="4843" b="54403"/>
          <a:stretch>
            <a:fillRect/>
          </a:stretch>
        </p:blipFill>
        <p:spPr>
          <a:xfrm>
            <a:off x="4742042" y="393773"/>
            <a:ext cx="4441408" cy="802818"/>
          </a:xfrm>
          <a:prstGeom prst="rect">
            <a:avLst/>
          </a:prstGeom>
        </p:spPr>
      </p:pic>
    </p:spTree>
    <p:extLst>
      <p:ext uri="{BB962C8B-B14F-4D97-AF65-F5344CB8AC3E}">
        <p14:creationId xmlns:p14="http://schemas.microsoft.com/office/powerpoint/2010/main" val="1775814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FE5DC766-08EA-6236-7A3D-A14189F56F5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40B4FA7-45FC-841F-209D-A00DDD9B41A2}"/>
              </a:ext>
            </a:extLst>
          </p:cNvPr>
          <p:cNvSpPr/>
          <p:nvPr/>
        </p:nvSpPr>
        <p:spPr>
          <a:xfrm>
            <a:off x="0" y="0"/>
            <a:ext cx="146304" cy="6858000"/>
          </a:xfrm>
          <a:prstGeom prst="rect">
            <a:avLst/>
          </a:prstGeom>
          <a:solidFill>
            <a:srgbClr val="00B4D8"/>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 name="Text 1">
            <a:extLst>
              <a:ext uri="{FF2B5EF4-FFF2-40B4-BE49-F238E27FC236}">
                <a16:creationId xmlns:a16="http://schemas.microsoft.com/office/drawing/2014/main" id="{53ADA726-CDB7-EF78-73F8-46F58056F142}"/>
              </a:ext>
            </a:extLst>
          </p:cNvPr>
          <p:cNvSpPr/>
          <p:nvPr/>
        </p:nvSpPr>
        <p:spPr>
          <a:xfrm>
            <a:off x="487680" y="304800"/>
            <a:ext cx="1097280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kern="0" spc="533">
                <a:solidFill>
                  <a:srgbClr val="00B4D8"/>
                </a:solidFill>
              </a:rPr>
              <a:t>METHODOLOGY</a:t>
            </a:r>
            <a:endParaRPr lang="en-US" sz="1467"/>
          </a:p>
        </p:txBody>
      </p:sp>
      <p:sp>
        <p:nvSpPr>
          <p:cNvPr id="4" name="Text 2">
            <a:extLst>
              <a:ext uri="{FF2B5EF4-FFF2-40B4-BE49-F238E27FC236}">
                <a16:creationId xmlns:a16="http://schemas.microsoft.com/office/drawing/2014/main" id="{F8E4B844-A7AA-6236-5E5A-D4B374DB663C}"/>
              </a:ext>
            </a:extLst>
          </p:cNvPr>
          <p:cNvSpPr/>
          <p:nvPr/>
        </p:nvSpPr>
        <p:spPr>
          <a:xfrm>
            <a:off x="487680" y="731520"/>
            <a:ext cx="1121664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450" b="1">
                <a:solidFill>
                  <a:srgbClr val="FFFFFF"/>
                </a:solidFill>
              </a:rPr>
              <a:t>How We Ran the Investigation</a:t>
            </a:r>
            <a:endParaRPr lang="en-US" sz="3450"/>
          </a:p>
        </p:txBody>
      </p:sp>
      <p:pic>
        <p:nvPicPr>
          <p:cNvPr id="36" name="Content Placeholder 4" descr="A screenshot of a computer&#10;&#10;AI-generated content may be incorrect.">
            <a:extLst>
              <a:ext uri="{FF2B5EF4-FFF2-40B4-BE49-F238E27FC236}">
                <a16:creationId xmlns:a16="http://schemas.microsoft.com/office/drawing/2014/main" id="{F6C3F82C-9470-1458-424E-08594CFF5B66}"/>
              </a:ext>
            </a:extLst>
          </p:cNvPr>
          <p:cNvPicPr>
            <a:picLocks noChangeAspect="1"/>
          </p:cNvPicPr>
          <p:nvPr/>
        </p:nvPicPr>
        <p:blipFill>
          <a:blip r:embed="rId3"/>
          <a:stretch>
            <a:fillRect/>
          </a:stretch>
        </p:blipFill>
        <p:spPr>
          <a:xfrm>
            <a:off x="487183" y="1398104"/>
            <a:ext cx="11224132" cy="5194061"/>
          </a:xfrm>
          <a:prstGeom prst="rect">
            <a:avLst/>
          </a:prstGeom>
        </p:spPr>
      </p:pic>
    </p:spTree>
    <p:extLst>
      <p:ext uri="{BB962C8B-B14F-4D97-AF65-F5344CB8AC3E}">
        <p14:creationId xmlns:p14="http://schemas.microsoft.com/office/powerpoint/2010/main" val="2525298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179E6791-B976-98A0-A026-55ACE0AA9A5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A4BF440-EDC5-62E8-FB53-299F6F337982}"/>
              </a:ext>
            </a:extLst>
          </p:cNvPr>
          <p:cNvSpPr/>
          <p:nvPr/>
        </p:nvSpPr>
        <p:spPr>
          <a:xfrm>
            <a:off x="0" y="0"/>
            <a:ext cx="146304" cy="6858000"/>
          </a:xfrm>
          <a:prstGeom prst="rect">
            <a:avLst/>
          </a:prstGeom>
          <a:solidFill>
            <a:srgbClr val="00B4D8"/>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 name="Text 1">
            <a:extLst>
              <a:ext uri="{FF2B5EF4-FFF2-40B4-BE49-F238E27FC236}">
                <a16:creationId xmlns:a16="http://schemas.microsoft.com/office/drawing/2014/main" id="{42745956-560A-7867-FE10-25F3A76DAEB3}"/>
              </a:ext>
            </a:extLst>
          </p:cNvPr>
          <p:cNvSpPr/>
          <p:nvPr/>
        </p:nvSpPr>
        <p:spPr>
          <a:xfrm>
            <a:off x="487680" y="304800"/>
            <a:ext cx="1097280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450" b="1" kern="0" spc="533">
                <a:solidFill>
                  <a:srgbClr val="00B4D8"/>
                </a:solidFill>
              </a:rPr>
              <a:t>METHODOLOGY - TECHNICAL</a:t>
            </a:r>
            <a:endParaRPr lang="en-US" sz="1450"/>
          </a:p>
        </p:txBody>
      </p:sp>
      <p:sp>
        <p:nvSpPr>
          <p:cNvPr id="4" name="Text 2">
            <a:extLst>
              <a:ext uri="{FF2B5EF4-FFF2-40B4-BE49-F238E27FC236}">
                <a16:creationId xmlns:a16="http://schemas.microsoft.com/office/drawing/2014/main" id="{32C8B992-50C4-57DB-E292-E3F7EB4AC105}"/>
              </a:ext>
            </a:extLst>
          </p:cNvPr>
          <p:cNvSpPr/>
          <p:nvPr/>
        </p:nvSpPr>
        <p:spPr>
          <a:xfrm>
            <a:off x="487680" y="731520"/>
            <a:ext cx="1121664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3450">
                <a:solidFill>
                  <a:srgbClr val="FFFFFF"/>
                </a:solidFill>
                <a:ea typeface="+mn-lt"/>
                <a:cs typeface="+mn-lt"/>
              </a:rPr>
              <a:t>Why This Matters to Incident Response </a:t>
            </a:r>
            <a:endParaRPr lang="en-US"/>
          </a:p>
        </p:txBody>
      </p:sp>
      <p:sp>
        <p:nvSpPr>
          <p:cNvPr id="6" name="Shape 4">
            <a:extLst>
              <a:ext uri="{FF2B5EF4-FFF2-40B4-BE49-F238E27FC236}">
                <a16:creationId xmlns:a16="http://schemas.microsoft.com/office/drawing/2014/main" id="{F46ACCD2-7095-FDC8-8F4C-80B64D2F2122}"/>
              </a:ext>
            </a:extLst>
          </p:cNvPr>
          <p:cNvSpPr/>
          <p:nvPr/>
        </p:nvSpPr>
        <p:spPr>
          <a:xfrm>
            <a:off x="426720" y="1547936"/>
            <a:ext cx="11338560" cy="365760"/>
          </a:xfrm>
          <a:prstGeom prst="rect">
            <a:avLst/>
          </a:prstGeom>
          <a:solidFill>
            <a:srgbClr val="0077A8"/>
          </a:solidFill>
          <a:ln w="12700">
            <a:solidFill>
              <a:srgbClr val="0077A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7" name="Text 5">
            <a:extLst>
              <a:ext uri="{FF2B5EF4-FFF2-40B4-BE49-F238E27FC236}">
                <a16:creationId xmlns:a16="http://schemas.microsoft.com/office/drawing/2014/main" id="{D0FA0E72-A782-D883-5DE3-0CBD5BD33B2A}"/>
              </a:ext>
            </a:extLst>
          </p:cNvPr>
          <p:cNvSpPr/>
          <p:nvPr/>
        </p:nvSpPr>
        <p:spPr>
          <a:xfrm>
            <a:off x="609600" y="1572320"/>
            <a:ext cx="1097280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450">
                <a:solidFill>
                  <a:srgbClr val="FFFFFF"/>
                </a:solidFill>
                <a:ea typeface="+mn-lt"/>
                <a:cs typeface="+mn-lt"/>
              </a:rPr>
              <a:t>Attack Timeline Reconstruction</a:t>
            </a:r>
            <a:endParaRPr lang="en-US"/>
          </a:p>
        </p:txBody>
      </p:sp>
      <p:sp>
        <p:nvSpPr>
          <p:cNvPr id="8" name="Shape 6">
            <a:extLst>
              <a:ext uri="{FF2B5EF4-FFF2-40B4-BE49-F238E27FC236}">
                <a16:creationId xmlns:a16="http://schemas.microsoft.com/office/drawing/2014/main" id="{A022CB80-1254-1ED1-E932-CC0D3E477828}"/>
              </a:ext>
            </a:extLst>
          </p:cNvPr>
          <p:cNvSpPr/>
          <p:nvPr/>
        </p:nvSpPr>
        <p:spPr>
          <a:xfrm>
            <a:off x="426720" y="1950272"/>
            <a:ext cx="11338560" cy="1194816"/>
          </a:xfrm>
          <a:prstGeom prst="rect">
            <a:avLst/>
          </a:prstGeom>
          <a:solidFill>
            <a:srgbClr val="0A1628"/>
          </a:solidFill>
          <a:ln w="12700">
            <a:solidFill>
              <a:srgbClr val="1B3A5C"/>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6" name="Shape 4">
            <a:extLst>
              <a:ext uri="{FF2B5EF4-FFF2-40B4-BE49-F238E27FC236}">
                <a16:creationId xmlns:a16="http://schemas.microsoft.com/office/drawing/2014/main" id="{68ABBF8C-FB37-8E79-3E11-1CBFB3056ABD}"/>
              </a:ext>
            </a:extLst>
          </p:cNvPr>
          <p:cNvSpPr/>
          <p:nvPr/>
        </p:nvSpPr>
        <p:spPr>
          <a:xfrm>
            <a:off x="437925" y="3307259"/>
            <a:ext cx="11338560" cy="365760"/>
          </a:xfrm>
          <a:prstGeom prst="rect">
            <a:avLst/>
          </a:prstGeom>
          <a:solidFill>
            <a:srgbClr val="0077A8"/>
          </a:solidFill>
          <a:ln w="12700">
            <a:solidFill>
              <a:srgbClr val="0077A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7" name="Text 5">
            <a:extLst>
              <a:ext uri="{FF2B5EF4-FFF2-40B4-BE49-F238E27FC236}">
                <a16:creationId xmlns:a16="http://schemas.microsoft.com/office/drawing/2014/main" id="{5F08427D-BC53-A8CD-C039-8744E42E99E9}"/>
              </a:ext>
            </a:extLst>
          </p:cNvPr>
          <p:cNvSpPr/>
          <p:nvPr/>
        </p:nvSpPr>
        <p:spPr>
          <a:xfrm>
            <a:off x="620805" y="3331643"/>
            <a:ext cx="1097280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450">
                <a:solidFill>
                  <a:srgbClr val="FFFFFF"/>
                </a:solidFill>
                <a:ea typeface="+mn-lt"/>
                <a:cs typeface="+mn-lt"/>
              </a:rPr>
              <a:t>Attack Timeline Reconstruction</a:t>
            </a:r>
            <a:endParaRPr lang="en-US"/>
          </a:p>
        </p:txBody>
      </p:sp>
      <p:sp>
        <p:nvSpPr>
          <p:cNvPr id="28" name="Shape 6">
            <a:extLst>
              <a:ext uri="{FF2B5EF4-FFF2-40B4-BE49-F238E27FC236}">
                <a16:creationId xmlns:a16="http://schemas.microsoft.com/office/drawing/2014/main" id="{C1C668A7-9079-CE7B-ED6D-F6B955D4A2CD}"/>
              </a:ext>
            </a:extLst>
          </p:cNvPr>
          <p:cNvSpPr/>
          <p:nvPr/>
        </p:nvSpPr>
        <p:spPr>
          <a:xfrm>
            <a:off x="437925" y="3709595"/>
            <a:ext cx="11338560" cy="1194816"/>
          </a:xfrm>
          <a:prstGeom prst="rect">
            <a:avLst/>
          </a:prstGeom>
          <a:solidFill>
            <a:srgbClr val="0A1628"/>
          </a:solidFill>
          <a:ln w="12700">
            <a:solidFill>
              <a:srgbClr val="1B3A5C"/>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9" name="Text 7">
            <a:extLst>
              <a:ext uri="{FF2B5EF4-FFF2-40B4-BE49-F238E27FC236}">
                <a16:creationId xmlns:a16="http://schemas.microsoft.com/office/drawing/2014/main" id="{0E563CB9-7668-533C-F49C-F2DD7E9D7BC0}"/>
              </a:ext>
            </a:extLst>
          </p:cNvPr>
          <p:cNvSpPr/>
          <p:nvPr/>
        </p:nvSpPr>
        <p:spPr>
          <a:xfrm>
            <a:off x="620805" y="3770555"/>
            <a:ext cx="10972800" cy="10728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1300">
              <a:solidFill>
                <a:srgbClr val="00B4D8"/>
              </a:solidFill>
              <a:latin typeface="Courier New"/>
              <a:cs typeface="Courier New"/>
            </a:endParaRPr>
          </a:p>
        </p:txBody>
      </p:sp>
      <p:sp>
        <p:nvSpPr>
          <p:cNvPr id="30" name="Shape 4">
            <a:extLst>
              <a:ext uri="{FF2B5EF4-FFF2-40B4-BE49-F238E27FC236}">
                <a16:creationId xmlns:a16="http://schemas.microsoft.com/office/drawing/2014/main" id="{64750733-F9A0-4D60-53B5-640E1CC79718}"/>
              </a:ext>
            </a:extLst>
          </p:cNvPr>
          <p:cNvSpPr/>
          <p:nvPr/>
        </p:nvSpPr>
        <p:spPr>
          <a:xfrm>
            <a:off x="449131" y="5055376"/>
            <a:ext cx="11338560" cy="365760"/>
          </a:xfrm>
          <a:prstGeom prst="rect">
            <a:avLst/>
          </a:prstGeom>
          <a:solidFill>
            <a:srgbClr val="0077A8"/>
          </a:solidFill>
          <a:ln w="12700">
            <a:solidFill>
              <a:srgbClr val="0077A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1" name="Text 5">
            <a:extLst>
              <a:ext uri="{FF2B5EF4-FFF2-40B4-BE49-F238E27FC236}">
                <a16:creationId xmlns:a16="http://schemas.microsoft.com/office/drawing/2014/main" id="{ECA69376-2DF5-F56B-5912-863362FB6E82}"/>
              </a:ext>
            </a:extLst>
          </p:cNvPr>
          <p:cNvSpPr/>
          <p:nvPr/>
        </p:nvSpPr>
        <p:spPr>
          <a:xfrm>
            <a:off x="632011" y="5079760"/>
            <a:ext cx="1097280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450">
                <a:solidFill>
                  <a:srgbClr val="FFFFFF"/>
                </a:solidFill>
                <a:ea typeface="+mn-lt"/>
                <a:cs typeface="+mn-lt"/>
              </a:rPr>
              <a:t>Digital Forensics and Incident Response </a:t>
            </a:r>
            <a:endParaRPr lang="en-US"/>
          </a:p>
        </p:txBody>
      </p:sp>
      <p:sp>
        <p:nvSpPr>
          <p:cNvPr id="32" name="Shape 6">
            <a:extLst>
              <a:ext uri="{FF2B5EF4-FFF2-40B4-BE49-F238E27FC236}">
                <a16:creationId xmlns:a16="http://schemas.microsoft.com/office/drawing/2014/main" id="{5539A67C-FC79-7174-26DA-18BFED996DC4}"/>
              </a:ext>
            </a:extLst>
          </p:cNvPr>
          <p:cNvSpPr/>
          <p:nvPr/>
        </p:nvSpPr>
        <p:spPr>
          <a:xfrm>
            <a:off x="449131" y="5457712"/>
            <a:ext cx="11338560" cy="1194816"/>
          </a:xfrm>
          <a:prstGeom prst="rect">
            <a:avLst/>
          </a:prstGeom>
          <a:solidFill>
            <a:srgbClr val="0A1628"/>
          </a:solidFill>
          <a:ln w="12700">
            <a:solidFill>
              <a:srgbClr val="1B3A5C"/>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3" name="Text 7">
            <a:extLst>
              <a:ext uri="{FF2B5EF4-FFF2-40B4-BE49-F238E27FC236}">
                <a16:creationId xmlns:a16="http://schemas.microsoft.com/office/drawing/2014/main" id="{8C1D3BFD-15C1-43C6-CFF2-D4DD19E8CB3E}"/>
              </a:ext>
            </a:extLst>
          </p:cNvPr>
          <p:cNvSpPr/>
          <p:nvPr/>
        </p:nvSpPr>
        <p:spPr>
          <a:xfrm>
            <a:off x="632011" y="5518672"/>
            <a:ext cx="10972800" cy="10728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endParaRPr lang="en-US" sz="1300">
              <a:solidFill>
                <a:srgbClr val="00B4D8"/>
              </a:solidFill>
              <a:latin typeface="Courier New"/>
              <a:cs typeface="Courier New"/>
            </a:endParaRPr>
          </a:p>
        </p:txBody>
      </p:sp>
      <p:sp>
        <p:nvSpPr>
          <p:cNvPr id="35" name="Text 7">
            <a:extLst>
              <a:ext uri="{FF2B5EF4-FFF2-40B4-BE49-F238E27FC236}">
                <a16:creationId xmlns:a16="http://schemas.microsoft.com/office/drawing/2014/main" id="{2666BF4D-A8E6-AF06-ACC1-39195D2B302A}"/>
              </a:ext>
            </a:extLst>
          </p:cNvPr>
          <p:cNvSpPr/>
          <p:nvPr/>
        </p:nvSpPr>
        <p:spPr>
          <a:xfrm>
            <a:off x="609600" y="2011232"/>
            <a:ext cx="10972800" cy="10728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85750" indent="-285750">
              <a:buFont typeface="Arial"/>
              <a:buChar char="•"/>
            </a:pPr>
            <a:r>
              <a:rPr lang="en-US" sz="1400">
                <a:solidFill>
                  <a:srgbClr val="00B4D8"/>
                </a:solidFill>
                <a:ea typeface="+mn-lt"/>
                <a:cs typeface="+mn-lt"/>
              </a:rPr>
              <a:t>Chronologizes events that occurred</a:t>
            </a:r>
            <a:endParaRPr lang="en-US" sz="1400">
              <a:solidFill>
                <a:srgbClr val="000000"/>
              </a:solidFill>
              <a:ea typeface="+mn-lt"/>
              <a:cs typeface="+mn-lt"/>
            </a:endParaRPr>
          </a:p>
          <a:p>
            <a:pPr marL="894715" lvl="1" indent="-285750">
              <a:buFont typeface="Courier New"/>
              <a:buChar char="o"/>
            </a:pPr>
            <a:r>
              <a:rPr lang="en-US" sz="1400">
                <a:solidFill>
                  <a:srgbClr val="00B4D8"/>
                </a:solidFill>
                <a:ea typeface="+mn-lt"/>
                <a:cs typeface="+mn-lt"/>
              </a:rPr>
              <a:t>When did the attacker gain initial access</a:t>
            </a:r>
            <a:endParaRPr lang="en-US" sz="1400">
              <a:solidFill>
                <a:srgbClr val="000000"/>
              </a:solidFill>
              <a:ea typeface="+mn-lt"/>
              <a:cs typeface="+mn-lt"/>
            </a:endParaRPr>
          </a:p>
          <a:p>
            <a:pPr marL="894715" lvl="1" indent="-285750">
              <a:buFont typeface="Courier New"/>
              <a:buChar char="o"/>
            </a:pPr>
            <a:r>
              <a:rPr lang="en-US" sz="1400">
                <a:solidFill>
                  <a:srgbClr val="00B4D8"/>
                </a:solidFill>
                <a:ea typeface="+mn-lt"/>
                <a:cs typeface="+mn-lt"/>
              </a:rPr>
              <a:t>When did the attacker conduct lateral movement</a:t>
            </a:r>
            <a:endParaRPr lang="en-US" sz="1400">
              <a:solidFill>
                <a:srgbClr val="000000"/>
              </a:solidFill>
              <a:ea typeface="+mn-lt"/>
              <a:cs typeface="+mn-lt"/>
            </a:endParaRPr>
          </a:p>
          <a:p>
            <a:pPr marL="894715" lvl="1" indent="-285750">
              <a:buFont typeface="Courier New"/>
              <a:buChar char="o"/>
            </a:pPr>
            <a:r>
              <a:rPr lang="en-US" sz="1400">
                <a:solidFill>
                  <a:srgbClr val="00B4D8"/>
                </a:solidFill>
                <a:ea typeface="+mn-lt"/>
                <a:cs typeface="+mn-lt"/>
              </a:rPr>
              <a:t>When did the attacker exfiltrate data</a:t>
            </a:r>
            <a:endParaRPr lang="en-US" sz="1400">
              <a:ea typeface="Calibri" panose="020F0502020204030204"/>
              <a:cs typeface="Calibri" panose="020F0502020204030204"/>
            </a:endParaRPr>
          </a:p>
        </p:txBody>
      </p:sp>
      <p:sp>
        <p:nvSpPr>
          <p:cNvPr id="36" name="Text 7">
            <a:extLst>
              <a:ext uri="{FF2B5EF4-FFF2-40B4-BE49-F238E27FC236}">
                <a16:creationId xmlns:a16="http://schemas.microsoft.com/office/drawing/2014/main" id="{4104BFA1-0A3A-C93F-5DA0-6DCAC0D12A0A}"/>
              </a:ext>
            </a:extLst>
          </p:cNvPr>
          <p:cNvSpPr/>
          <p:nvPr/>
        </p:nvSpPr>
        <p:spPr>
          <a:xfrm>
            <a:off x="609600" y="3770555"/>
            <a:ext cx="10972800" cy="10728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85750" indent="-285750">
              <a:buFont typeface="Arial"/>
              <a:buChar char="•"/>
            </a:pPr>
            <a:r>
              <a:rPr lang="en-US" sz="1400">
                <a:solidFill>
                  <a:srgbClr val="00B4D8"/>
                </a:solidFill>
                <a:ea typeface="+mn-lt"/>
                <a:cs typeface="+mn-lt"/>
              </a:rPr>
              <a:t>Chronologizes Attacker Behavior </a:t>
            </a:r>
            <a:endParaRPr lang="en-US" sz="1400">
              <a:ea typeface="+mn-lt"/>
              <a:cs typeface="+mn-lt"/>
            </a:endParaRPr>
          </a:p>
          <a:p>
            <a:pPr marL="894715" lvl="1" indent="-285750">
              <a:buFont typeface="Courier New"/>
              <a:buChar char="o"/>
            </a:pPr>
            <a:r>
              <a:rPr lang="en-US" sz="1400">
                <a:solidFill>
                  <a:srgbClr val="00B4D8"/>
                </a:solidFill>
                <a:ea typeface="+mn-lt"/>
                <a:cs typeface="+mn-lt"/>
              </a:rPr>
              <a:t>Tag process executions </a:t>
            </a:r>
            <a:endParaRPr lang="en-US">
              <a:ea typeface="+mn-lt"/>
              <a:cs typeface="+mn-lt"/>
            </a:endParaRPr>
          </a:p>
          <a:p>
            <a:pPr marL="894715" lvl="1" indent="-285750">
              <a:buFont typeface="Courier New"/>
              <a:buChar char="o"/>
            </a:pPr>
            <a:r>
              <a:rPr lang="en-US" sz="1400">
                <a:solidFill>
                  <a:srgbClr val="00B4D8"/>
                </a:solidFill>
                <a:ea typeface="+mn-lt"/>
                <a:cs typeface="+mn-lt"/>
              </a:rPr>
              <a:t>Filters for unusual file access </a:t>
            </a:r>
            <a:endParaRPr lang="en-US">
              <a:ea typeface="+mn-lt"/>
              <a:cs typeface="+mn-lt"/>
            </a:endParaRPr>
          </a:p>
          <a:p>
            <a:pPr marL="894715" lvl="1" indent="-285750">
              <a:buFont typeface="Courier New"/>
              <a:buChar char="o"/>
            </a:pPr>
            <a:r>
              <a:rPr lang="en-US" sz="1400">
                <a:solidFill>
                  <a:srgbClr val="00B4D8"/>
                </a:solidFill>
                <a:ea typeface="+mn-lt"/>
                <a:cs typeface="+mn-lt"/>
              </a:rPr>
              <a:t>Searches for suspicious logons </a:t>
            </a:r>
            <a:endParaRPr lang="en-US">
              <a:ea typeface="Calibri" panose="020F0502020204030204"/>
              <a:cs typeface="Calibri" panose="020F0502020204030204"/>
            </a:endParaRPr>
          </a:p>
        </p:txBody>
      </p:sp>
      <p:sp>
        <p:nvSpPr>
          <p:cNvPr id="37" name="Text 7">
            <a:extLst>
              <a:ext uri="{FF2B5EF4-FFF2-40B4-BE49-F238E27FC236}">
                <a16:creationId xmlns:a16="http://schemas.microsoft.com/office/drawing/2014/main" id="{7CFA6571-9AB3-A77C-5A06-88501560EEEE}"/>
              </a:ext>
            </a:extLst>
          </p:cNvPr>
          <p:cNvSpPr/>
          <p:nvPr/>
        </p:nvSpPr>
        <p:spPr>
          <a:xfrm>
            <a:off x="632011" y="5518672"/>
            <a:ext cx="10972800" cy="10728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85750" indent="-285750">
              <a:buFont typeface="Arial,Sans-Serif"/>
              <a:buChar char="•"/>
            </a:pPr>
            <a:r>
              <a:rPr lang="en-US" sz="1400">
                <a:solidFill>
                  <a:srgbClr val="00B4D8"/>
                </a:solidFill>
                <a:ea typeface="+mn-lt"/>
                <a:cs typeface="+mn-lt"/>
              </a:rPr>
              <a:t>Maintain Data Integrity </a:t>
            </a:r>
            <a:endParaRPr lang="en-US" sz="1400">
              <a:ea typeface="Calibri"/>
              <a:cs typeface="Calibri"/>
            </a:endParaRPr>
          </a:p>
          <a:p>
            <a:pPr marL="894715" lvl="1" indent="-285750">
              <a:buFont typeface="Courier New"/>
              <a:buChar char="o"/>
            </a:pPr>
            <a:r>
              <a:rPr lang="en-US" sz="1400">
                <a:solidFill>
                  <a:srgbClr val="00B4D8"/>
                </a:solidFill>
                <a:ea typeface="Calibri"/>
                <a:cs typeface="Calibri"/>
              </a:rPr>
              <a:t>Correlate disparate data sources </a:t>
            </a:r>
            <a:endParaRPr lang="en-US" sz="1400">
              <a:ea typeface="Calibri"/>
              <a:cs typeface="Calibri"/>
            </a:endParaRPr>
          </a:p>
          <a:p>
            <a:pPr marL="894715" lvl="1" indent="-285750">
              <a:buFont typeface="Courier New"/>
              <a:buChar char="o"/>
            </a:pPr>
            <a:r>
              <a:rPr lang="en-US" sz="1400">
                <a:solidFill>
                  <a:srgbClr val="00B4D8"/>
                </a:solidFill>
                <a:ea typeface="+mn-lt"/>
                <a:cs typeface="+mn-lt"/>
              </a:rPr>
              <a:t>Preserve timestamps and metadata </a:t>
            </a:r>
            <a:endParaRPr lang="en-US" sz="1400">
              <a:ea typeface="Calibri"/>
              <a:cs typeface="Calibri"/>
            </a:endParaRPr>
          </a:p>
          <a:p>
            <a:pPr marL="894715" lvl="1" indent="-285750">
              <a:buFont typeface="Courier New"/>
              <a:buChar char="o"/>
            </a:pPr>
            <a:r>
              <a:rPr lang="en-US" sz="1400">
                <a:solidFill>
                  <a:srgbClr val="00B4D8"/>
                </a:solidFill>
                <a:ea typeface="+mn-lt"/>
                <a:cs typeface="+mn-lt"/>
              </a:rPr>
              <a:t>Determine if the attacker is currently active </a:t>
            </a:r>
            <a:endParaRPr lang="en-US">
              <a:ea typeface="Calibri" panose="020F0502020204030204"/>
              <a:cs typeface="Calibri" panose="020F0502020204030204"/>
            </a:endParaRPr>
          </a:p>
        </p:txBody>
      </p:sp>
    </p:spTree>
    <p:extLst>
      <p:ext uri="{BB962C8B-B14F-4D97-AF65-F5344CB8AC3E}">
        <p14:creationId xmlns:p14="http://schemas.microsoft.com/office/powerpoint/2010/main" val="1260277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E63946"/>
          </a:solidFill>
          <a:ln w="12700">
            <a:solidFill>
              <a:srgbClr val="E6394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 name="Text 1"/>
          <p:cNvSpPr/>
          <p:nvPr/>
        </p:nvSpPr>
        <p:spPr>
          <a:xfrm>
            <a:off x="487680" y="304800"/>
            <a:ext cx="1097280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kern="0" spc="533">
                <a:solidFill>
                  <a:srgbClr val="E63946"/>
                </a:solidFill>
              </a:rPr>
              <a:t>INVESTIGATION FINDINGS</a:t>
            </a:r>
            <a:endParaRPr lang="en-US" sz="1467"/>
          </a:p>
        </p:txBody>
      </p:sp>
      <p:sp>
        <p:nvSpPr>
          <p:cNvPr id="4" name="Text 2"/>
          <p:cNvSpPr/>
          <p:nvPr/>
        </p:nvSpPr>
        <p:spPr>
          <a:xfrm>
            <a:off x="487680" y="731520"/>
            <a:ext cx="1121664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467" b="1">
                <a:solidFill>
                  <a:srgbClr val="FFFFFF"/>
                </a:solidFill>
              </a:rPr>
              <a:t>What the Timeline Revealed</a:t>
            </a:r>
            <a:endParaRPr lang="en-US" sz="3467"/>
          </a:p>
        </p:txBody>
      </p:sp>
      <p:sp>
        <p:nvSpPr>
          <p:cNvPr id="5" name="Shape 3"/>
          <p:cNvSpPr/>
          <p:nvPr/>
        </p:nvSpPr>
        <p:spPr>
          <a:xfrm>
            <a:off x="426720" y="1560576"/>
            <a:ext cx="11338560" cy="1036320"/>
          </a:xfrm>
          <a:prstGeom prst="rect">
            <a:avLst/>
          </a:prstGeom>
          <a:solidFill>
            <a:srgbClr val="2D0A0A"/>
          </a:solidFill>
          <a:ln w="12700">
            <a:solidFill>
              <a:srgbClr val="E63946"/>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6" name="Text 4"/>
          <p:cNvSpPr/>
          <p:nvPr/>
        </p:nvSpPr>
        <p:spPr>
          <a:xfrm>
            <a:off x="670560" y="1645920"/>
            <a:ext cx="2682240"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33" b="1">
                <a:solidFill>
                  <a:srgbClr val="E63946"/>
                </a:solidFill>
              </a:rPr>
              <a:t>SUSPECT IDENTIFIED:</a:t>
            </a:r>
            <a:endParaRPr lang="en-US" sz="1733"/>
          </a:p>
        </p:txBody>
      </p:sp>
      <p:sp>
        <p:nvSpPr>
          <p:cNvPr id="7" name="Text 5"/>
          <p:cNvSpPr/>
          <p:nvPr/>
        </p:nvSpPr>
        <p:spPr>
          <a:xfrm>
            <a:off x="2641900" y="1662729"/>
            <a:ext cx="8818580" cy="406951"/>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00" b="1">
                <a:solidFill>
                  <a:srgbClr val="FFFFFF"/>
                </a:solidFill>
              </a:rPr>
              <a:t>Jo Smith - Patent Researcher  (jo@m57.biz)</a:t>
            </a:r>
            <a:endParaRPr lang="en-US" sz="1700"/>
          </a:p>
        </p:txBody>
      </p:sp>
      <p:sp>
        <p:nvSpPr>
          <p:cNvPr id="8" name="Text 6"/>
          <p:cNvSpPr/>
          <p:nvPr/>
        </p:nvSpPr>
        <p:spPr>
          <a:xfrm>
            <a:off x="670560" y="2072640"/>
            <a:ext cx="10972800"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300" i="1">
                <a:solidFill>
                  <a:srgbClr val="A8C8E0"/>
                </a:solidFill>
              </a:rPr>
              <a:t>Source: Corporate files found in bulk copies across jo's machine and jo's work </a:t>
            </a:r>
            <a:r>
              <a:rPr lang="en-US" sz="1300" i="1" err="1">
                <a:solidFill>
                  <a:srgbClr val="A8C8E0"/>
                </a:solidFill>
              </a:rPr>
              <a:t>usb</a:t>
            </a:r>
            <a:endParaRPr lang="en-US" sz="1300" i="1" err="1">
              <a:solidFill>
                <a:srgbClr val="A8C8E0"/>
              </a:solidFill>
              <a:ea typeface="Calibri"/>
              <a:cs typeface="Calibri"/>
            </a:endParaRPr>
          </a:p>
        </p:txBody>
      </p:sp>
      <p:sp>
        <p:nvSpPr>
          <p:cNvPr id="9" name="Shape 7"/>
          <p:cNvSpPr/>
          <p:nvPr/>
        </p:nvSpPr>
        <p:spPr>
          <a:xfrm>
            <a:off x="426720" y="2779776"/>
            <a:ext cx="5486400" cy="1706880"/>
          </a:xfrm>
          <a:prstGeom prst="rect">
            <a:avLst/>
          </a:prstGeom>
          <a:solidFill>
            <a:srgbClr val="112233"/>
          </a:solidFill>
          <a:ln w="12700">
            <a:solidFill>
              <a:srgbClr val="E63946"/>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0" name="Shape 8"/>
          <p:cNvSpPr/>
          <p:nvPr/>
        </p:nvSpPr>
        <p:spPr>
          <a:xfrm>
            <a:off x="426720" y="2779776"/>
            <a:ext cx="85344" cy="1706880"/>
          </a:xfrm>
          <a:prstGeom prst="rect">
            <a:avLst/>
          </a:prstGeom>
          <a:solidFill>
            <a:srgbClr val="E63946"/>
          </a:solidFill>
          <a:ln w="12700">
            <a:solidFill>
              <a:srgbClr val="E6394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1" name="Text 9"/>
          <p:cNvSpPr/>
          <p:nvPr/>
        </p:nvSpPr>
        <p:spPr>
          <a:xfrm>
            <a:off x="670560" y="2901696"/>
            <a:ext cx="505968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33" b="1">
                <a:solidFill>
                  <a:srgbClr val="E63946"/>
                </a:solidFill>
              </a:rPr>
              <a:t>Who?</a:t>
            </a:r>
            <a:endParaRPr lang="en-US" sz="1733"/>
          </a:p>
        </p:txBody>
      </p:sp>
      <p:sp>
        <p:nvSpPr>
          <p:cNvPr id="12" name="Text 10"/>
          <p:cNvSpPr/>
          <p:nvPr/>
        </p:nvSpPr>
        <p:spPr>
          <a:xfrm>
            <a:off x="670560" y="3340608"/>
            <a:ext cx="5059680" cy="10728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450">
                <a:solidFill>
                  <a:srgbClr val="FFFFFF"/>
                </a:solidFill>
              </a:rPr>
              <a:t>Jo Smith confirmed as sole active user via Windows registry HKEY_CURRENT_USER, user profile path C:\Documents and Settings\Jo\, and prefetch artifacts, all parsed by </a:t>
            </a:r>
            <a:r>
              <a:rPr lang="en-US" sz="1450" err="1">
                <a:solidFill>
                  <a:srgbClr val="FFFFFF"/>
                </a:solidFill>
              </a:rPr>
              <a:t>Plaso</a:t>
            </a:r>
            <a:endParaRPr lang="en-US" sz="1450" err="1"/>
          </a:p>
        </p:txBody>
      </p:sp>
      <p:sp>
        <p:nvSpPr>
          <p:cNvPr id="13" name="Shape 11"/>
          <p:cNvSpPr/>
          <p:nvPr/>
        </p:nvSpPr>
        <p:spPr>
          <a:xfrm>
            <a:off x="426720" y="4657344"/>
            <a:ext cx="5486400" cy="1706880"/>
          </a:xfrm>
          <a:prstGeom prst="rect">
            <a:avLst/>
          </a:prstGeom>
          <a:solidFill>
            <a:srgbClr val="112233"/>
          </a:solidFill>
          <a:ln w="12700">
            <a:solidFill>
              <a:srgbClr val="F4A261"/>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4" name="Shape 12"/>
          <p:cNvSpPr/>
          <p:nvPr/>
        </p:nvSpPr>
        <p:spPr>
          <a:xfrm>
            <a:off x="426720" y="4657344"/>
            <a:ext cx="85344" cy="1706880"/>
          </a:xfrm>
          <a:prstGeom prst="rect">
            <a:avLst/>
          </a:prstGeom>
          <a:solidFill>
            <a:srgbClr val="F4A261"/>
          </a:solidFill>
          <a:ln w="12700">
            <a:solidFill>
              <a:srgbClr val="F4A261"/>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5" name="Text 13"/>
          <p:cNvSpPr/>
          <p:nvPr/>
        </p:nvSpPr>
        <p:spPr>
          <a:xfrm>
            <a:off x="670560" y="4779264"/>
            <a:ext cx="505968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33" b="1">
                <a:solidFill>
                  <a:srgbClr val="F4A261"/>
                </a:solidFill>
              </a:rPr>
              <a:t>How?</a:t>
            </a:r>
            <a:endParaRPr lang="en-US" sz="1733"/>
          </a:p>
        </p:txBody>
      </p:sp>
      <p:sp>
        <p:nvSpPr>
          <p:cNvPr id="16" name="Text 14"/>
          <p:cNvSpPr/>
          <p:nvPr/>
        </p:nvSpPr>
        <p:spPr>
          <a:xfrm>
            <a:off x="670560" y="5218176"/>
            <a:ext cx="5059680" cy="10728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450">
                <a:solidFill>
                  <a:srgbClr val="FFFFFF"/>
                </a:solidFill>
              </a:rPr>
              <a:t>Two-stage USB exfiltration: Nov 20 (18 files copied to XFER folder) + Dec 10 (4,794 files in Papers1 to Papers17). Personal Hotmail webmail used outside company monitoring</a:t>
            </a:r>
            <a:endParaRPr lang="en-US" sz="1450"/>
          </a:p>
        </p:txBody>
      </p:sp>
      <p:sp>
        <p:nvSpPr>
          <p:cNvPr id="17" name="Shape 15"/>
          <p:cNvSpPr/>
          <p:nvPr/>
        </p:nvSpPr>
        <p:spPr>
          <a:xfrm>
            <a:off x="6278880" y="2779776"/>
            <a:ext cx="5486400" cy="1706880"/>
          </a:xfrm>
          <a:prstGeom prst="rect">
            <a:avLst/>
          </a:prstGeom>
          <a:solidFill>
            <a:srgbClr val="112233"/>
          </a:solidFill>
          <a:ln w="12700">
            <a:solidFill>
              <a:srgbClr val="00B4D8"/>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8" name="Shape 16"/>
          <p:cNvSpPr/>
          <p:nvPr/>
        </p:nvSpPr>
        <p:spPr>
          <a:xfrm>
            <a:off x="6278880" y="2779776"/>
            <a:ext cx="85344" cy="1706880"/>
          </a:xfrm>
          <a:prstGeom prst="rect">
            <a:avLst/>
          </a:prstGeom>
          <a:solidFill>
            <a:srgbClr val="00B4D8"/>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9" name="Text 17"/>
          <p:cNvSpPr/>
          <p:nvPr/>
        </p:nvSpPr>
        <p:spPr>
          <a:xfrm>
            <a:off x="6522720" y="2901696"/>
            <a:ext cx="505968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33" b="1">
                <a:solidFill>
                  <a:srgbClr val="00B4D8"/>
                </a:solidFill>
              </a:rPr>
              <a:t>What?</a:t>
            </a:r>
            <a:endParaRPr lang="en-US" sz="1733"/>
          </a:p>
        </p:txBody>
      </p:sp>
      <p:sp>
        <p:nvSpPr>
          <p:cNvPr id="20" name="Text 18"/>
          <p:cNvSpPr/>
          <p:nvPr/>
        </p:nvSpPr>
        <p:spPr>
          <a:xfrm>
            <a:off x="6522720" y="3340608"/>
            <a:ext cx="5059680" cy="10728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50">
                <a:solidFill>
                  <a:srgbClr val="FFFFFF"/>
                </a:solidFill>
              </a:rPr>
              <a:t>4,812 proprietary patent research PDFs. M57's client deliverables. Named [ID].[Topic].[Author].pdf. Same 282-paper set duplicated 17 times on Dec 10, day before seizure</a:t>
            </a:r>
            <a:endParaRPr lang="en-US" sz="1450"/>
          </a:p>
        </p:txBody>
      </p:sp>
      <p:sp>
        <p:nvSpPr>
          <p:cNvPr id="21" name="Shape 19"/>
          <p:cNvSpPr/>
          <p:nvPr/>
        </p:nvSpPr>
        <p:spPr>
          <a:xfrm>
            <a:off x="6278880" y="4657344"/>
            <a:ext cx="5486400" cy="1706880"/>
          </a:xfrm>
          <a:prstGeom prst="rect">
            <a:avLst/>
          </a:prstGeom>
          <a:solidFill>
            <a:srgbClr val="112233"/>
          </a:solidFill>
          <a:ln w="12700">
            <a:solidFill>
              <a:srgbClr val="2DC653"/>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2" name="Shape 20"/>
          <p:cNvSpPr/>
          <p:nvPr/>
        </p:nvSpPr>
        <p:spPr>
          <a:xfrm>
            <a:off x="6278880" y="4657344"/>
            <a:ext cx="85344" cy="1706880"/>
          </a:xfrm>
          <a:prstGeom prst="rect">
            <a:avLst/>
          </a:prstGeom>
          <a:solidFill>
            <a:srgbClr val="2DC653"/>
          </a:solidFill>
          <a:ln w="12700">
            <a:solidFill>
              <a:srgbClr val="2DC653"/>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3" name="Text 21"/>
          <p:cNvSpPr/>
          <p:nvPr/>
        </p:nvSpPr>
        <p:spPr>
          <a:xfrm>
            <a:off x="6522720" y="4779264"/>
            <a:ext cx="505968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33" b="1">
                <a:solidFill>
                  <a:srgbClr val="2DC653"/>
                </a:solidFill>
              </a:rPr>
              <a:t>Cover-up?</a:t>
            </a:r>
            <a:endParaRPr lang="en-US" sz="1733"/>
          </a:p>
        </p:txBody>
      </p:sp>
      <p:sp>
        <p:nvSpPr>
          <p:cNvPr id="24" name="Text 22"/>
          <p:cNvSpPr/>
          <p:nvPr/>
        </p:nvSpPr>
        <p:spPr>
          <a:xfrm>
            <a:off x="6522720" y="5218176"/>
            <a:ext cx="5059680" cy="10728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450">
                <a:solidFill>
                  <a:srgbClr val="FFFFFF"/>
                </a:solidFill>
              </a:rPr>
              <a:t>Outlook Express run 14 times on Dec 11 (police day). </a:t>
            </a:r>
            <a:r>
              <a:rPr lang="en-US" sz="1450" err="1">
                <a:solidFill>
                  <a:srgbClr val="FFFFFF"/>
                </a:solidFill>
              </a:rPr>
              <a:t>Inbox.dbx</a:t>
            </a:r>
            <a:r>
              <a:rPr lang="en-US" sz="1450">
                <a:solidFill>
                  <a:srgbClr val="FFFFFF"/>
                </a:solidFill>
              </a:rPr>
              <a:t> modified Dec 9 per USNJRNL. Hotmail bypassed company email logging entirely</a:t>
            </a:r>
            <a:endParaRPr lang="en-US" sz="1450"/>
          </a:p>
        </p:txBody>
      </p:sp>
    </p:spTree>
    <p:extLst>
      <p:ext uri="{BB962C8B-B14F-4D97-AF65-F5344CB8AC3E}">
        <p14:creationId xmlns:p14="http://schemas.microsoft.com/office/powerpoint/2010/main" val="2452536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E63946"/>
          </a:solidFill>
          <a:ln w="12700">
            <a:solidFill>
              <a:srgbClr val="E6394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 name="Text 1"/>
          <p:cNvSpPr/>
          <p:nvPr/>
        </p:nvSpPr>
        <p:spPr>
          <a:xfrm>
            <a:off x="487680" y="304800"/>
            <a:ext cx="1097280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kern="0" spc="533">
                <a:solidFill>
                  <a:srgbClr val="E63946"/>
                </a:solidFill>
              </a:rPr>
              <a:t>INDICATORS OF COMPROMISE</a:t>
            </a:r>
            <a:endParaRPr lang="en-US" sz="1467"/>
          </a:p>
        </p:txBody>
      </p:sp>
      <p:sp>
        <p:nvSpPr>
          <p:cNvPr id="4" name="Text 2"/>
          <p:cNvSpPr/>
          <p:nvPr/>
        </p:nvSpPr>
        <p:spPr>
          <a:xfrm>
            <a:off x="487680" y="731520"/>
            <a:ext cx="11216640" cy="6705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467" b="1">
                <a:solidFill>
                  <a:srgbClr val="FFFFFF"/>
                </a:solidFill>
              </a:rPr>
              <a:t>Forensic Evidence Timeline</a:t>
            </a:r>
            <a:endParaRPr lang="en-US" sz="3467"/>
          </a:p>
        </p:txBody>
      </p:sp>
      <p:sp>
        <p:nvSpPr>
          <p:cNvPr id="5" name="Shape 3"/>
          <p:cNvSpPr/>
          <p:nvPr/>
        </p:nvSpPr>
        <p:spPr>
          <a:xfrm>
            <a:off x="1072896" y="1682496"/>
            <a:ext cx="487680" cy="487680"/>
          </a:xfrm>
          <a:prstGeom prst="ellipse">
            <a:avLst/>
          </a:prstGeom>
          <a:solidFill>
            <a:srgbClr val="F4A261"/>
          </a:solidFill>
          <a:ln w="12700">
            <a:solidFill>
              <a:srgbClr val="F4A261"/>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6" name="Shape 4"/>
          <p:cNvSpPr/>
          <p:nvPr/>
        </p:nvSpPr>
        <p:spPr>
          <a:xfrm>
            <a:off x="1316736" y="2170176"/>
            <a:ext cx="0" cy="268224"/>
          </a:xfrm>
          <a:prstGeom prst="line">
            <a:avLst/>
          </a:prstGeom>
          <a:noFill/>
          <a:ln w="19050">
            <a:solidFill>
              <a:srgbClr val="1B3A5C"/>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7" name="Text 5"/>
          <p:cNvSpPr/>
          <p:nvPr/>
        </p:nvSpPr>
        <p:spPr>
          <a:xfrm>
            <a:off x="0" y="1682496"/>
            <a:ext cx="1024128"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333" b="1">
                <a:solidFill>
                  <a:srgbClr val="A8C8E0"/>
                </a:solidFill>
              </a:rPr>
              <a:t>Nov 20</a:t>
            </a:r>
            <a:endParaRPr lang="en-US" sz="1333"/>
          </a:p>
        </p:txBody>
      </p:sp>
      <p:sp>
        <p:nvSpPr>
          <p:cNvPr id="8" name="Shape 6"/>
          <p:cNvSpPr/>
          <p:nvPr/>
        </p:nvSpPr>
        <p:spPr>
          <a:xfrm>
            <a:off x="1731264" y="1560576"/>
            <a:ext cx="10034016" cy="755904"/>
          </a:xfrm>
          <a:prstGeom prst="rect">
            <a:avLst/>
          </a:prstGeom>
          <a:solidFill>
            <a:srgbClr val="112233"/>
          </a:solidFill>
          <a:ln w="12700">
            <a:solidFill>
              <a:srgbClr val="F4A261"/>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9" name="Text 7"/>
          <p:cNvSpPr/>
          <p:nvPr/>
        </p:nvSpPr>
        <p:spPr>
          <a:xfrm>
            <a:off x="1901952" y="1633728"/>
            <a:ext cx="341376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F4A261"/>
                </a:solidFill>
              </a:rPr>
              <a:t>First Transfer + Webmail</a:t>
            </a:r>
            <a:endParaRPr lang="en-US" sz="1467"/>
          </a:p>
        </p:txBody>
      </p:sp>
      <p:sp>
        <p:nvSpPr>
          <p:cNvPr id="10" name="Text 8"/>
          <p:cNvSpPr/>
          <p:nvPr/>
        </p:nvSpPr>
        <p:spPr>
          <a:xfrm>
            <a:off x="5303520" y="1633728"/>
            <a:ext cx="6315456"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300">
                <a:solidFill>
                  <a:srgbClr val="FFFFFF"/>
                </a:solidFill>
              </a:rPr>
              <a:t>18 patent PDFs -&gt; XFER-11-20-2010 folder on work USB  |  Hotmail accessed</a:t>
            </a:r>
            <a:endParaRPr lang="en-US" sz="1300">
              <a:solidFill>
                <a:srgbClr val="FFFFFF"/>
              </a:solidFill>
              <a:ea typeface="Calibri"/>
              <a:cs typeface="Calibri"/>
            </a:endParaRPr>
          </a:p>
        </p:txBody>
      </p:sp>
      <p:sp>
        <p:nvSpPr>
          <p:cNvPr id="11" name="Shape 9"/>
          <p:cNvSpPr/>
          <p:nvPr/>
        </p:nvSpPr>
        <p:spPr>
          <a:xfrm>
            <a:off x="1072896" y="2535936"/>
            <a:ext cx="487680" cy="487680"/>
          </a:xfrm>
          <a:prstGeom prst="ellipse">
            <a:avLst/>
          </a:prstGeom>
          <a:solidFill>
            <a:srgbClr val="00B4D8"/>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2" name="Shape 10"/>
          <p:cNvSpPr/>
          <p:nvPr/>
        </p:nvSpPr>
        <p:spPr>
          <a:xfrm>
            <a:off x="1316736" y="3023616"/>
            <a:ext cx="0" cy="268224"/>
          </a:xfrm>
          <a:prstGeom prst="line">
            <a:avLst/>
          </a:prstGeom>
          <a:noFill/>
          <a:ln w="19050">
            <a:solidFill>
              <a:srgbClr val="1B3A5C"/>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3" name="Text 11"/>
          <p:cNvSpPr/>
          <p:nvPr/>
        </p:nvSpPr>
        <p:spPr>
          <a:xfrm>
            <a:off x="0" y="2535936"/>
            <a:ext cx="1024128"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333" b="1">
                <a:solidFill>
                  <a:srgbClr val="A8C8E0"/>
                </a:solidFill>
              </a:rPr>
              <a:t>Nov 23</a:t>
            </a:r>
            <a:endParaRPr lang="en-US" sz="1333"/>
          </a:p>
        </p:txBody>
      </p:sp>
      <p:sp>
        <p:nvSpPr>
          <p:cNvPr id="14" name="Shape 12"/>
          <p:cNvSpPr/>
          <p:nvPr/>
        </p:nvSpPr>
        <p:spPr>
          <a:xfrm>
            <a:off x="1731264" y="2414016"/>
            <a:ext cx="10034016" cy="755904"/>
          </a:xfrm>
          <a:prstGeom prst="rect">
            <a:avLst/>
          </a:prstGeom>
          <a:solidFill>
            <a:srgbClr val="112233"/>
          </a:solidFill>
          <a:ln w="12700">
            <a:solidFill>
              <a:srgbClr val="00B4D8"/>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5" name="Text 13"/>
          <p:cNvSpPr/>
          <p:nvPr/>
        </p:nvSpPr>
        <p:spPr>
          <a:xfrm>
            <a:off x="1901952" y="2487168"/>
            <a:ext cx="341376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00B4D8"/>
                </a:solidFill>
              </a:rPr>
              <a:t>Tooling Installed</a:t>
            </a:r>
            <a:endParaRPr lang="en-US" sz="1467"/>
          </a:p>
        </p:txBody>
      </p:sp>
      <p:sp>
        <p:nvSpPr>
          <p:cNvPr id="16" name="Text 14"/>
          <p:cNvSpPr/>
          <p:nvPr/>
        </p:nvSpPr>
        <p:spPr>
          <a:xfrm>
            <a:off x="5303520" y="2487168"/>
            <a:ext cx="6315456"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00">
                <a:solidFill>
                  <a:srgbClr val="FFFFFF"/>
                </a:solidFill>
              </a:rPr>
              <a:t>Python 2.6 + email libraries installed on work machine  |  Email shortcut created on desktop</a:t>
            </a:r>
            <a:endParaRPr lang="en-US" sz="1300">
              <a:solidFill>
                <a:srgbClr val="FFFFFF"/>
              </a:solidFill>
              <a:ea typeface="Calibri"/>
              <a:cs typeface="Calibri"/>
            </a:endParaRPr>
          </a:p>
        </p:txBody>
      </p:sp>
      <p:sp>
        <p:nvSpPr>
          <p:cNvPr id="17" name="Shape 15"/>
          <p:cNvSpPr/>
          <p:nvPr/>
        </p:nvSpPr>
        <p:spPr>
          <a:xfrm>
            <a:off x="1072896" y="3389376"/>
            <a:ext cx="487680" cy="487680"/>
          </a:xfrm>
          <a:prstGeom prst="ellipse">
            <a:avLst/>
          </a:prstGeom>
          <a:solidFill>
            <a:srgbClr val="00B4D8"/>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8" name="Shape 16"/>
          <p:cNvSpPr/>
          <p:nvPr/>
        </p:nvSpPr>
        <p:spPr>
          <a:xfrm>
            <a:off x="1316736" y="3877056"/>
            <a:ext cx="0" cy="268224"/>
          </a:xfrm>
          <a:prstGeom prst="line">
            <a:avLst/>
          </a:prstGeom>
          <a:noFill/>
          <a:ln w="19050">
            <a:solidFill>
              <a:srgbClr val="1B3A5C"/>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9" name="Text 17"/>
          <p:cNvSpPr/>
          <p:nvPr/>
        </p:nvSpPr>
        <p:spPr>
          <a:xfrm>
            <a:off x="0" y="3389376"/>
            <a:ext cx="1024128"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333" b="1">
                <a:solidFill>
                  <a:srgbClr val="A8C8E0"/>
                </a:solidFill>
              </a:rPr>
              <a:t>Nov 25</a:t>
            </a:r>
            <a:endParaRPr lang="en-US" sz="1333"/>
          </a:p>
        </p:txBody>
      </p:sp>
      <p:sp>
        <p:nvSpPr>
          <p:cNvPr id="20" name="Shape 18"/>
          <p:cNvSpPr/>
          <p:nvPr/>
        </p:nvSpPr>
        <p:spPr>
          <a:xfrm>
            <a:off x="1731264" y="3267456"/>
            <a:ext cx="10034016" cy="755904"/>
          </a:xfrm>
          <a:prstGeom prst="rect">
            <a:avLst/>
          </a:prstGeom>
          <a:solidFill>
            <a:srgbClr val="112233"/>
          </a:solidFill>
          <a:ln w="12700">
            <a:solidFill>
              <a:srgbClr val="00B4D8"/>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1" name="Text 19"/>
          <p:cNvSpPr/>
          <p:nvPr/>
        </p:nvSpPr>
        <p:spPr>
          <a:xfrm>
            <a:off x="1901952" y="3340608"/>
            <a:ext cx="341376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00B4D8"/>
                </a:solidFill>
              </a:rPr>
              <a:t>Webmail Again</a:t>
            </a:r>
            <a:endParaRPr lang="en-US" sz="1467"/>
          </a:p>
        </p:txBody>
      </p:sp>
      <p:sp>
        <p:nvSpPr>
          <p:cNvPr id="22" name="Text 20"/>
          <p:cNvSpPr/>
          <p:nvPr/>
        </p:nvSpPr>
        <p:spPr>
          <a:xfrm>
            <a:off x="5303520" y="3340608"/>
            <a:ext cx="6315456"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300">
                <a:solidFill>
                  <a:srgbClr val="FFFFFF"/>
                </a:solidFill>
              </a:rPr>
              <a:t>Hotmail accessed a second time  |  Possible communication with outside contact</a:t>
            </a:r>
            <a:endParaRPr lang="en-US" sz="1300"/>
          </a:p>
        </p:txBody>
      </p:sp>
      <p:sp>
        <p:nvSpPr>
          <p:cNvPr id="23" name="Shape 21"/>
          <p:cNvSpPr/>
          <p:nvPr/>
        </p:nvSpPr>
        <p:spPr>
          <a:xfrm>
            <a:off x="1072896" y="4242816"/>
            <a:ext cx="487680" cy="487680"/>
          </a:xfrm>
          <a:prstGeom prst="ellipse">
            <a:avLst/>
          </a:prstGeom>
          <a:solidFill>
            <a:srgbClr val="F4A261"/>
          </a:solidFill>
          <a:ln w="12700">
            <a:solidFill>
              <a:srgbClr val="F4A261"/>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4" name="Shape 22"/>
          <p:cNvSpPr/>
          <p:nvPr/>
        </p:nvSpPr>
        <p:spPr>
          <a:xfrm>
            <a:off x="1316736" y="4730496"/>
            <a:ext cx="0" cy="268224"/>
          </a:xfrm>
          <a:prstGeom prst="line">
            <a:avLst/>
          </a:prstGeom>
          <a:noFill/>
          <a:ln w="19050">
            <a:solidFill>
              <a:srgbClr val="1B3A5C"/>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5" name="Text 23"/>
          <p:cNvSpPr/>
          <p:nvPr/>
        </p:nvSpPr>
        <p:spPr>
          <a:xfrm>
            <a:off x="0" y="4242816"/>
            <a:ext cx="1024128"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333" b="1">
                <a:solidFill>
                  <a:srgbClr val="A8C8E0"/>
                </a:solidFill>
              </a:rPr>
              <a:t>Dec 09</a:t>
            </a:r>
            <a:endParaRPr lang="en-US" sz="1333"/>
          </a:p>
        </p:txBody>
      </p:sp>
      <p:sp>
        <p:nvSpPr>
          <p:cNvPr id="26" name="Shape 24"/>
          <p:cNvSpPr/>
          <p:nvPr/>
        </p:nvSpPr>
        <p:spPr>
          <a:xfrm>
            <a:off x="1731264" y="4120896"/>
            <a:ext cx="10034016" cy="755904"/>
          </a:xfrm>
          <a:prstGeom prst="rect">
            <a:avLst/>
          </a:prstGeom>
          <a:solidFill>
            <a:srgbClr val="112233"/>
          </a:solidFill>
          <a:ln w="12700">
            <a:solidFill>
              <a:srgbClr val="F4A261"/>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7" name="Text 25"/>
          <p:cNvSpPr/>
          <p:nvPr/>
        </p:nvSpPr>
        <p:spPr>
          <a:xfrm>
            <a:off x="1901952" y="4194048"/>
            <a:ext cx="341376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F4A261"/>
                </a:solidFill>
              </a:rPr>
              <a:t>Email Activity</a:t>
            </a:r>
            <a:endParaRPr lang="en-US" sz="1467"/>
          </a:p>
        </p:txBody>
      </p:sp>
      <p:sp>
        <p:nvSpPr>
          <p:cNvPr id="28" name="Text 26"/>
          <p:cNvSpPr/>
          <p:nvPr/>
        </p:nvSpPr>
        <p:spPr>
          <a:xfrm>
            <a:off x="5303520" y="4194048"/>
            <a:ext cx="6315456"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300" err="1">
                <a:solidFill>
                  <a:srgbClr val="FFFFFF"/>
                </a:solidFill>
              </a:rPr>
              <a:t>Inbox.dbx</a:t>
            </a:r>
            <a:r>
              <a:rPr lang="en-US" sz="1300">
                <a:solidFill>
                  <a:srgbClr val="FFFFFF"/>
                </a:solidFill>
              </a:rPr>
              <a:t> modified  |  Active email exchange 2 days before police arrival</a:t>
            </a:r>
            <a:endParaRPr lang="en-US" sz="1300"/>
          </a:p>
        </p:txBody>
      </p:sp>
      <p:sp>
        <p:nvSpPr>
          <p:cNvPr id="29" name="Shape 27"/>
          <p:cNvSpPr/>
          <p:nvPr/>
        </p:nvSpPr>
        <p:spPr>
          <a:xfrm>
            <a:off x="1072896" y="5096256"/>
            <a:ext cx="487680" cy="487680"/>
          </a:xfrm>
          <a:prstGeom prst="ellipse">
            <a:avLst/>
          </a:prstGeom>
          <a:solidFill>
            <a:srgbClr val="E63946"/>
          </a:solidFill>
          <a:ln w="12700">
            <a:solidFill>
              <a:srgbClr val="E6394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0" name="Shape 28"/>
          <p:cNvSpPr/>
          <p:nvPr/>
        </p:nvSpPr>
        <p:spPr>
          <a:xfrm>
            <a:off x="1316736" y="5583936"/>
            <a:ext cx="0" cy="268224"/>
          </a:xfrm>
          <a:prstGeom prst="line">
            <a:avLst/>
          </a:prstGeom>
          <a:noFill/>
          <a:ln w="19050">
            <a:solidFill>
              <a:srgbClr val="1B3A5C"/>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1" name="Text 29"/>
          <p:cNvSpPr/>
          <p:nvPr/>
        </p:nvSpPr>
        <p:spPr>
          <a:xfrm>
            <a:off x="0" y="5096256"/>
            <a:ext cx="1024128"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333" b="1">
                <a:solidFill>
                  <a:srgbClr val="A8C8E0"/>
                </a:solidFill>
              </a:rPr>
              <a:t>Dec 10</a:t>
            </a:r>
            <a:endParaRPr lang="en-US" sz="1333"/>
          </a:p>
        </p:txBody>
      </p:sp>
      <p:sp>
        <p:nvSpPr>
          <p:cNvPr id="32" name="Shape 30"/>
          <p:cNvSpPr/>
          <p:nvPr/>
        </p:nvSpPr>
        <p:spPr>
          <a:xfrm>
            <a:off x="1731264" y="4974336"/>
            <a:ext cx="10034016" cy="755904"/>
          </a:xfrm>
          <a:prstGeom prst="rect">
            <a:avLst/>
          </a:prstGeom>
          <a:solidFill>
            <a:srgbClr val="112233"/>
          </a:solidFill>
          <a:ln w="12700">
            <a:solidFill>
              <a:srgbClr val="E63946"/>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3" name="Text 31"/>
          <p:cNvSpPr/>
          <p:nvPr/>
        </p:nvSpPr>
        <p:spPr>
          <a:xfrm>
            <a:off x="1901952" y="5047488"/>
            <a:ext cx="341376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E63946"/>
                </a:solidFill>
              </a:rPr>
              <a:t>Bulk Exfiltration</a:t>
            </a:r>
            <a:endParaRPr lang="en-US" sz="1467"/>
          </a:p>
        </p:txBody>
      </p:sp>
      <p:sp>
        <p:nvSpPr>
          <p:cNvPr id="34" name="Text 32"/>
          <p:cNvSpPr/>
          <p:nvPr/>
        </p:nvSpPr>
        <p:spPr>
          <a:xfrm>
            <a:off x="5303520" y="5047488"/>
            <a:ext cx="6315456"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300">
                <a:solidFill>
                  <a:srgbClr val="FFFFFF"/>
                </a:solidFill>
              </a:rPr>
              <a:t>4,794 files across Papers1 to Papers17 copied to work USB  |  Day before seizure</a:t>
            </a:r>
            <a:endParaRPr lang="en-US" sz="1300"/>
          </a:p>
        </p:txBody>
      </p:sp>
      <p:sp>
        <p:nvSpPr>
          <p:cNvPr id="35" name="Shape 33"/>
          <p:cNvSpPr/>
          <p:nvPr/>
        </p:nvSpPr>
        <p:spPr>
          <a:xfrm>
            <a:off x="1072896" y="5949696"/>
            <a:ext cx="487680" cy="487680"/>
          </a:xfrm>
          <a:prstGeom prst="ellipse">
            <a:avLst/>
          </a:prstGeom>
          <a:solidFill>
            <a:srgbClr val="E63946"/>
          </a:solidFill>
          <a:ln w="12700">
            <a:solidFill>
              <a:srgbClr val="E6394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6" name="Text 34"/>
          <p:cNvSpPr/>
          <p:nvPr/>
        </p:nvSpPr>
        <p:spPr>
          <a:xfrm>
            <a:off x="0" y="5949696"/>
            <a:ext cx="1024128"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r">
              <a:buNone/>
            </a:pPr>
            <a:r>
              <a:rPr lang="en-US" sz="1333" b="1">
                <a:solidFill>
                  <a:srgbClr val="A8C8E0"/>
                </a:solidFill>
              </a:rPr>
              <a:t>Dec 11</a:t>
            </a:r>
            <a:endParaRPr lang="en-US" sz="1333"/>
          </a:p>
        </p:txBody>
      </p:sp>
      <p:sp>
        <p:nvSpPr>
          <p:cNvPr id="37" name="Shape 35"/>
          <p:cNvSpPr/>
          <p:nvPr/>
        </p:nvSpPr>
        <p:spPr>
          <a:xfrm>
            <a:off x="1731264" y="5827776"/>
            <a:ext cx="10034016" cy="755904"/>
          </a:xfrm>
          <a:prstGeom prst="rect">
            <a:avLst/>
          </a:prstGeom>
          <a:solidFill>
            <a:srgbClr val="112233"/>
          </a:solidFill>
          <a:ln w="12700">
            <a:solidFill>
              <a:srgbClr val="E63946"/>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8" name="Text 36"/>
          <p:cNvSpPr/>
          <p:nvPr/>
        </p:nvSpPr>
        <p:spPr>
          <a:xfrm>
            <a:off x="1901952" y="5900928"/>
            <a:ext cx="341376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50" b="1">
                <a:solidFill>
                  <a:srgbClr val="E63946"/>
                </a:solidFill>
              </a:rPr>
              <a:t>Police Arrive - Cover-up</a:t>
            </a:r>
            <a:endParaRPr lang="en-US" sz="1450"/>
          </a:p>
        </p:txBody>
      </p:sp>
      <p:sp>
        <p:nvSpPr>
          <p:cNvPr id="39" name="Text 37"/>
          <p:cNvSpPr/>
          <p:nvPr/>
        </p:nvSpPr>
        <p:spPr>
          <a:xfrm>
            <a:off x="5303520" y="5900928"/>
            <a:ext cx="6315456" cy="6096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300">
                <a:solidFill>
                  <a:srgbClr val="FFFFFF"/>
                </a:solidFill>
              </a:rPr>
              <a:t>Outlook Express opened 14 times |  Consistent with deleting sent emails</a:t>
            </a:r>
            <a:endParaRPr lang="en-US" sz="1300"/>
          </a:p>
        </p:txBody>
      </p:sp>
    </p:spTree>
    <p:extLst>
      <p:ext uri="{BB962C8B-B14F-4D97-AF65-F5344CB8AC3E}">
        <p14:creationId xmlns:p14="http://schemas.microsoft.com/office/powerpoint/2010/main" val="1119010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F4A261"/>
          </a:solidFill>
          <a:ln w="12700">
            <a:solidFill>
              <a:srgbClr val="F4A261"/>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 name="Text 1"/>
          <p:cNvSpPr/>
          <p:nvPr/>
        </p:nvSpPr>
        <p:spPr>
          <a:xfrm>
            <a:off x="487680" y="268224"/>
            <a:ext cx="10972800"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kern="0" spc="533">
                <a:solidFill>
                  <a:srgbClr val="F4A261"/>
                </a:solidFill>
              </a:rPr>
              <a:t>CHALLENGES &amp; LESSONS LEARNED</a:t>
            </a:r>
            <a:endParaRPr lang="en-US" sz="1467"/>
          </a:p>
        </p:txBody>
      </p:sp>
      <p:sp>
        <p:nvSpPr>
          <p:cNvPr id="4" name="Text 2"/>
          <p:cNvSpPr/>
          <p:nvPr/>
        </p:nvSpPr>
        <p:spPr>
          <a:xfrm>
            <a:off x="487680" y="670560"/>
            <a:ext cx="1121664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3200">
                <a:solidFill>
                  <a:srgbClr val="FFFFFF"/>
                </a:solidFill>
                <a:ea typeface="+mn-lt"/>
                <a:cs typeface="+mn-lt"/>
              </a:rPr>
              <a:t>What We Learned Along the Way</a:t>
            </a:r>
            <a:endParaRPr lang="en-US"/>
          </a:p>
        </p:txBody>
      </p:sp>
      <p:sp>
        <p:nvSpPr>
          <p:cNvPr id="5" name="Shape 3"/>
          <p:cNvSpPr/>
          <p:nvPr/>
        </p:nvSpPr>
        <p:spPr>
          <a:xfrm>
            <a:off x="426720" y="1487424"/>
            <a:ext cx="5486400" cy="2340864"/>
          </a:xfrm>
          <a:prstGeom prst="rect">
            <a:avLst/>
          </a:prstGeom>
          <a:solidFill>
            <a:srgbClr val="112233"/>
          </a:solidFill>
          <a:ln w="12700">
            <a:solidFill>
              <a:srgbClr val="E63946"/>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6" name="Shape 4"/>
          <p:cNvSpPr/>
          <p:nvPr/>
        </p:nvSpPr>
        <p:spPr>
          <a:xfrm>
            <a:off x="426720" y="1487424"/>
            <a:ext cx="5486400" cy="365760"/>
          </a:xfrm>
          <a:prstGeom prst="rect">
            <a:avLst/>
          </a:prstGeom>
          <a:solidFill>
            <a:srgbClr val="E63946"/>
          </a:solidFill>
          <a:ln w="12700">
            <a:solidFill>
              <a:srgbClr val="E63946"/>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7" name="Text 5"/>
          <p:cNvSpPr/>
          <p:nvPr/>
        </p:nvSpPr>
        <p:spPr>
          <a:xfrm>
            <a:off x="573024" y="1524000"/>
            <a:ext cx="5193792"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0D1B2A"/>
                </a:solidFill>
              </a:rPr>
              <a:t>Setup &amp; Environment</a:t>
            </a:r>
            <a:endParaRPr lang="en-US" sz="1467"/>
          </a:p>
        </p:txBody>
      </p:sp>
      <p:sp>
        <p:nvSpPr>
          <p:cNvPr id="8" name="Text 6"/>
          <p:cNvSpPr/>
          <p:nvPr/>
        </p:nvSpPr>
        <p:spPr>
          <a:xfrm>
            <a:off x="676697" y="1862598"/>
            <a:ext cx="4877589" cy="195237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6565" indent="-456565">
              <a:buSzPct val="100000"/>
              <a:buChar char="•"/>
            </a:pPr>
            <a:r>
              <a:rPr lang="en-US" sz="1450">
                <a:solidFill>
                  <a:srgbClr val="FFFFFF"/>
                </a:solidFill>
              </a:rPr>
              <a:t>Running </a:t>
            </a:r>
            <a:r>
              <a:rPr lang="en-US" sz="1450" err="1">
                <a:solidFill>
                  <a:srgbClr val="FFFFFF"/>
                </a:solidFill>
              </a:rPr>
              <a:t>plaso</a:t>
            </a:r>
            <a:r>
              <a:rPr lang="en-US" sz="1450">
                <a:solidFill>
                  <a:srgbClr val="FFFFFF"/>
                </a:solidFill>
              </a:rPr>
              <a:t> on an apple machine is not recommended, we switched to a Kali Linux VM and it was much smoother.</a:t>
            </a:r>
          </a:p>
          <a:p>
            <a:pPr marL="456565" indent="-456565">
              <a:buSzPct val="100000"/>
              <a:buChar char="•"/>
            </a:pPr>
            <a:endParaRPr lang="en-US" sz="1450">
              <a:solidFill>
                <a:srgbClr val="FFFFFF"/>
              </a:solidFill>
              <a:ea typeface="Calibri" panose="020F0502020204030204"/>
              <a:cs typeface="Calibri" panose="020F0502020204030204"/>
            </a:endParaRPr>
          </a:p>
          <a:p>
            <a:pPr marL="456565" indent="-456565">
              <a:buSzPct val="100000"/>
              <a:buFont typeface="Arial"/>
              <a:buChar char="•"/>
            </a:pPr>
            <a:r>
              <a:rPr lang="en-US" sz="1500">
                <a:solidFill>
                  <a:srgbClr val="FFFFFF"/>
                </a:solidFill>
                <a:ea typeface="Calibri" panose="020F0502020204030204"/>
                <a:cs typeface="Calibri" panose="020F0502020204030204"/>
              </a:rPr>
              <a:t>Setting up </a:t>
            </a:r>
            <a:r>
              <a:rPr lang="en-US" sz="1500" err="1">
                <a:solidFill>
                  <a:srgbClr val="FFFFFF"/>
                </a:solidFill>
                <a:ea typeface="Calibri" panose="020F0502020204030204"/>
                <a:cs typeface="Calibri" panose="020F0502020204030204"/>
              </a:rPr>
              <a:t>Timesketch</a:t>
            </a:r>
            <a:r>
              <a:rPr lang="en-US" sz="1500">
                <a:solidFill>
                  <a:srgbClr val="FFFFFF"/>
                </a:solidFill>
                <a:ea typeface="Calibri" panose="020F0502020204030204"/>
                <a:cs typeface="Calibri" panose="020F0502020204030204"/>
              </a:rPr>
              <a:t> was even harder so, we moved to Windows and it just worked.</a:t>
            </a:r>
            <a:endParaRPr lang="en-US" sz="1500">
              <a:solidFill>
                <a:srgbClr val="000000"/>
              </a:solidFill>
              <a:ea typeface="Calibri" panose="020F0502020204030204"/>
              <a:cs typeface="Calibri" panose="020F0502020204030204"/>
            </a:endParaRPr>
          </a:p>
        </p:txBody>
      </p:sp>
      <p:sp>
        <p:nvSpPr>
          <p:cNvPr id="10" name="Shape 8"/>
          <p:cNvSpPr/>
          <p:nvPr/>
        </p:nvSpPr>
        <p:spPr>
          <a:xfrm>
            <a:off x="6278880" y="1487424"/>
            <a:ext cx="5486400" cy="2340864"/>
          </a:xfrm>
          <a:prstGeom prst="rect">
            <a:avLst/>
          </a:prstGeom>
          <a:solidFill>
            <a:srgbClr val="112233"/>
          </a:solidFill>
          <a:ln w="12700">
            <a:solidFill>
              <a:srgbClr val="00B4D8"/>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1" name="Shape 9"/>
          <p:cNvSpPr/>
          <p:nvPr/>
        </p:nvSpPr>
        <p:spPr>
          <a:xfrm>
            <a:off x="6278880" y="1487424"/>
            <a:ext cx="5486400" cy="365760"/>
          </a:xfrm>
          <a:prstGeom prst="rect">
            <a:avLst/>
          </a:prstGeom>
          <a:solidFill>
            <a:srgbClr val="00B4D8"/>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2" name="Text 10"/>
          <p:cNvSpPr/>
          <p:nvPr/>
        </p:nvSpPr>
        <p:spPr>
          <a:xfrm>
            <a:off x="6425184" y="1524000"/>
            <a:ext cx="5193792"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0D1B2A"/>
                </a:solidFill>
              </a:rPr>
              <a:t>Working With the Data</a:t>
            </a:r>
            <a:endParaRPr lang="en-US" sz="1467"/>
          </a:p>
        </p:txBody>
      </p:sp>
      <p:sp>
        <p:nvSpPr>
          <p:cNvPr id="13" name="Text 11"/>
          <p:cNvSpPr/>
          <p:nvPr/>
        </p:nvSpPr>
        <p:spPr>
          <a:xfrm>
            <a:off x="6508123" y="1857415"/>
            <a:ext cx="5033099" cy="19627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6565" indent="-456565">
              <a:buSzPct val="100000"/>
              <a:buChar char="•"/>
            </a:pPr>
            <a:r>
              <a:rPr lang="en-US" sz="1450">
                <a:solidFill>
                  <a:srgbClr val="FFFFFF"/>
                </a:solidFill>
              </a:rPr>
              <a:t>The CSV timelines are massive so, we recommend using python filtering and </a:t>
            </a:r>
            <a:r>
              <a:rPr lang="en-US" sz="1450" err="1">
                <a:solidFill>
                  <a:srgbClr val="FFFFFF"/>
                </a:solidFill>
              </a:rPr>
              <a:t>Timesketch</a:t>
            </a:r>
            <a:r>
              <a:rPr lang="en-US" sz="1450">
                <a:solidFill>
                  <a:srgbClr val="FFFFFF"/>
                </a:solidFill>
              </a:rPr>
              <a:t> search to analyze it.</a:t>
            </a:r>
          </a:p>
          <a:p>
            <a:pPr marL="456565" indent="-456565">
              <a:buSzPct val="100000"/>
              <a:buFontTx/>
              <a:buChar char="•"/>
            </a:pPr>
            <a:endParaRPr lang="en-US" sz="1450">
              <a:solidFill>
                <a:srgbClr val="FFFFFF"/>
              </a:solidFill>
              <a:ea typeface="Calibri" panose="020F0502020204030204"/>
              <a:cs typeface="Calibri" panose="020F0502020204030204"/>
            </a:endParaRPr>
          </a:p>
          <a:p>
            <a:pPr marL="456565" indent="-456565">
              <a:buSzPct val="100000"/>
              <a:buFont typeface="Arial"/>
              <a:buChar char="•"/>
            </a:pPr>
            <a:r>
              <a:rPr lang="en-US" sz="1500">
                <a:solidFill>
                  <a:srgbClr val="FFFFFF"/>
                </a:solidFill>
                <a:ea typeface="Calibri" panose="020F0502020204030204"/>
                <a:cs typeface="Calibri" panose="020F0502020204030204"/>
              </a:rPr>
              <a:t>Timestamps can be deliberately faked by an attacker (</a:t>
            </a:r>
            <a:r>
              <a:rPr lang="en-US" sz="1500" err="1">
                <a:solidFill>
                  <a:srgbClr val="FFFFFF"/>
                </a:solidFill>
                <a:ea typeface="Calibri" panose="020F0502020204030204"/>
                <a:cs typeface="Calibri" panose="020F0502020204030204"/>
              </a:rPr>
              <a:t>timestomping</a:t>
            </a:r>
            <a:r>
              <a:rPr lang="en-US" sz="1500">
                <a:solidFill>
                  <a:srgbClr val="FFFFFF"/>
                </a:solidFill>
                <a:ea typeface="Calibri" panose="020F0502020204030204"/>
                <a:cs typeface="Calibri" panose="020F0502020204030204"/>
              </a:rPr>
              <a:t>), always worth keeping that in mind.</a:t>
            </a:r>
          </a:p>
        </p:txBody>
      </p:sp>
      <p:sp>
        <p:nvSpPr>
          <p:cNvPr id="15" name="Shape 13"/>
          <p:cNvSpPr/>
          <p:nvPr/>
        </p:nvSpPr>
        <p:spPr>
          <a:xfrm>
            <a:off x="426720" y="4047744"/>
            <a:ext cx="5486400" cy="2340864"/>
          </a:xfrm>
          <a:prstGeom prst="rect">
            <a:avLst/>
          </a:prstGeom>
          <a:solidFill>
            <a:srgbClr val="112233"/>
          </a:solidFill>
          <a:ln w="12700">
            <a:solidFill>
              <a:srgbClr val="F4A261"/>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6" name="Shape 14"/>
          <p:cNvSpPr/>
          <p:nvPr/>
        </p:nvSpPr>
        <p:spPr>
          <a:xfrm>
            <a:off x="426720" y="4047744"/>
            <a:ext cx="5486400" cy="365760"/>
          </a:xfrm>
          <a:prstGeom prst="rect">
            <a:avLst/>
          </a:prstGeom>
          <a:solidFill>
            <a:srgbClr val="F4A261"/>
          </a:solidFill>
          <a:ln w="12700">
            <a:solidFill>
              <a:srgbClr val="F4A261"/>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7" name="Text 15"/>
          <p:cNvSpPr/>
          <p:nvPr/>
        </p:nvSpPr>
        <p:spPr>
          <a:xfrm>
            <a:off x="573024" y="4084320"/>
            <a:ext cx="5193792"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0D1B2A"/>
                </a:solidFill>
              </a:rPr>
              <a:t>Processing &amp; Performance</a:t>
            </a:r>
            <a:endParaRPr lang="en-US" sz="1467"/>
          </a:p>
        </p:txBody>
      </p:sp>
      <p:sp>
        <p:nvSpPr>
          <p:cNvPr id="20" name="Shape 18"/>
          <p:cNvSpPr/>
          <p:nvPr/>
        </p:nvSpPr>
        <p:spPr>
          <a:xfrm>
            <a:off x="6278880" y="4047744"/>
            <a:ext cx="5486400" cy="2340864"/>
          </a:xfrm>
          <a:prstGeom prst="rect">
            <a:avLst/>
          </a:prstGeom>
          <a:solidFill>
            <a:srgbClr val="112233"/>
          </a:solidFill>
          <a:ln w="12700">
            <a:solidFill>
              <a:srgbClr val="A8C8E0"/>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1" name="Shape 19"/>
          <p:cNvSpPr/>
          <p:nvPr/>
        </p:nvSpPr>
        <p:spPr>
          <a:xfrm>
            <a:off x="6278880" y="4047744"/>
            <a:ext cx="5486400" cy="365760"/>
          </a:xfrm>
          <a:prstGeom prst="rect">
            <a:avLst/>
          </a:prstGeom>
          <a:solidFill>
            <a:srgbClr val="A8C8E0"/>
          </a:solidFill>
          <a:ln w="12700">
            <a:solidFill>
              <a:srgbClr val="A8C8E0"/>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2" name="Text 20"/>
          <p:cNvSpPr/>
          <p:nvPr/>
        </p:nvSpPr>
        <p:spPr>
          <a:xfrm>
            <a:off x="6425184" y="4084320"/>
            <a:ext cx="5193792" cy="292608"/>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a:solidFill>
                  <a:srgbClr val="0D1B2A"/>
                </a:solidFill>
              </a:rPr>
              <a:t>Tool Limitations</a:t>
            </a:r>
            <a:endParaRPr lang="en-US" sz="1467"/>
          </a:p>
        </p:txBody>
      </p:sp>
      <p:sp>
        <p:nvSpPr>
          <p:cNvPr id="23" name="Text 21"/>
          <p:cNvSpPr/>
          <p:nvPr/>
        </p:nvSpPr>
        <p:spPr>
          <a:xfrm>
            <a:off x="6508122" y="4428102"/>
            <a:ext cx="5033099" cy="195237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6565" indent="-456565">
              <a:buSzPct val="100000"/>
              <a:buChar char="•"/>
            </a:pPr>
            <a:r>
              <a:rPr lang="en-US" sz="1450" err="1">
                <a:solidFill>
                  <a:srgbClr val="FFFFFF"/>
                </a:solidFill>
              </a:rPr>
              <a:t>Plaso</a:t>
            </a:r>
            <a:r>
              <a:rPr lang="en-US" sz="1450">
                <a:solidFill>
                  <a:srgbClr val="FFFFFF"/>
                </a:solidFill>
              </a:rPr>
              <a:t> can't read actual email content, only the metadata around it. That was a real gap in this investigation.</a:t>
            </a:r>
            <a:endParaRPr lang="en-US" sz="1450">
              <a:solidFill>
                <a:srgbClr val="FFFFFF"/>
              </a:solidFill>
              <a:ea typeface="Calibri" panose="020F0502020204030204"/>
              <a:cs typeface="Calibri" panose="020F0502020204030204"/>
            </a:endParaRPr>
          </a:p>
          <a:p>
            <a:pPr marL="456565" indent="-456565">
              <a:buSzPct val="100000"/>
              <a:buChar char="•"/>
            </a:pPr>
            <a:endParaRPr lang="en-US" sz="1450">
              <a:solidFill>
                <a:srgbClr val="FFFFFF"/>
              </a:solidFill>
              <a:ea typeface="Calibri" panose="020F0502020204030204"/>
              <a:cs typeface="Calibri" panose="020F0502020204030204"/>
            </a:endParaRPr>
          </a:p>
          <a:p>
            <a:pPr marL="456565" indent="-456565">
              <a:buSzPct val="100000"/>
              <a:buFont typeface="Arial"/>
              <a:buChar char="•"/>
            </a:pPr>
            <a:r>
              <a:rPr lang="en-US" sz="1500" err="1">
                <a:solidFill>
                  <a:srgbClr val="FFFFFF"/>
                </a:solidFill>
                <a:ea typeface="Calibri"/>
                <a:cs typeface="Calibri"/>
              </a:rPr>
              <a:t>Timesketch</a:t>
            </a:r>
            <a:r>
              <a:rPr lang="en-US" sz="1500">
                <a:solidFill>
                  <a:srgbClr val="FFFFFF"/>
                </a:solidFill>
                <a:ea typeface="Calibri"/>
                <a:cs typeface="Calibri"/>
              </a:rPr>
              <a:t> on its own does not create the full picture, you need network and memory forensics alongside it</a:t>
            </a:r>
            <a:endParaRPr lang="en-US" sz="1500">
              <a:solidFill>
                <a:srgbClr val="000000"/>
              </a:solidFill>
              <a:ea typeface="Calibri"/>
              <a:cs typeface="Calibri"/>
            </a:endParaRPr>
          </a:p>
        </p:txBody>
      </p:sp>
      <p:sp>
        <p:nvSpPr>
          <p:cNvPr id="27" name="Text 6">
            <a:extLst>
              <a:ext uri="{FF2B5EF4-FFF2-40B4-BE49-F238E27FC236}">
                <a16:creationId xmlns:a16="http://schemas.microsoft.com/office/drawing/2014/main" id="{6052D139-A14C-E793-6E1A-AE9461B7C02E}"/>
              </a:ext>
            </a:extLst>
          </p:cNvPr>
          <p:cNvSpPr/>
          <p:nvPr/>
        </p:nvSpPr>
        <p:spPr>
          <a:xfrm>
            <a:off x="733717" y="4433699"/>
            <a:ext cx="4877589" cy="195237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6565" indent="-456565">
              <a:buSzPct val="100000"/>
              <a:buFont typeface="Arial"/>
              <a:buChar char="•"/>
            </a:pPr>
            <a:r>
              <a:rPr lang="en-US" sz="1500" err="1">
                <a:solidFill>
                  <a:srgbClr val="FFFFFF"/>
                </a:solidFill>
                <a:ea typeface="+mn-lt"/>
                <a:cs typeface="+mn-lt"/>
              </a:rPr>
              <a:t>Plaso</a:t>
            </a:r>
            <a:r>
              <a:rPr lang="en-US" sz="1500">
                <a:solidFill>
                  <a:srgbClr val="FFFFFF"/>
                </a:solidFill>
                <a:ea typeface="+mn-lt"/>
                <a:cs typeface="+mn-lt"/>
              </a:rPr>
              <a:t> take a lot of time to extract artifacts, running extractions in parallel across terminals makes a lot of difference.</a:t>
            </a:r>
            <a:endParaRPr lang="en-US" sz="1500">
              <a:solidFill>
                <a:srgbClr val="000000"/>
              </a:solidFill>
              <a:ea typeface="+mn-lt"/>
              <a:cs typeface="+mn-lt"/>
            </a:endParaRPr>
          </a:p>
          <a:p>
            <a:pPr marL="456565" indent="-456565">
              <a:buSzPct val="100000"/>
              <a:buFont typeface="Arial"/>
              <a:buChar char="•"/>
            </a:pPr>
            <a:endParaRPr lang="en-US" sz="1500">
              <a:solidFill>
                <a:srgbClr val="FFFFFF"/>
              </a:solidFill>
              <a:ea typeface="+mn-lt"/>
              <a:cs typeface="+mn-lt"/>
            </a:endParaRPr>
          </a:p>
          <a:p>
            <a:pPr marL="456565" indent="-456565">
              <a:buSzPct val="100000"/>
              <a:buFont typeface="Arial"/>
              <a:buChar char="•"/>
            </a:pPr>
            <a:r>
              <a:rPr lang="en-US" sz="1500">
                <a:solidFill>
                  <a:srgbClr val="FFFFFF"/>
                </a:solidFill>
                <a:ea typeface="+mn-lt"/>
                <a:cs typeface="+mn-lt"/>
              </a:rPr>
              <a:t>Make sure to watch out for your system resources and how much you are using it. Docker shows everything in real time.</a:t>
            </a:r>
            <a:endParaRPr lang="en-US" sz="1500">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DC653"/>
          </a:solidFill>
          <a:ln w="12700">
            <a:solidFill>
              <a:srgbClr val="2DC653"/>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 name="Text 1"/>
          <p:cNvSpPr/>
          <p:nvPr/>
        </p:nvSpPr>
        <p:spPr>
          <a:xfrm>
            <a:off x="487680" y="268224"/>
            <a:ext cx="10972800"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kern="0" spc="533">
                <a:solidFill>
                  <a:srgbClr val="2DC653"/>
                </a:solidFill>
              </a:rPr>
              <a:t>COURT DEFENSIBILITY</a:t>
            </a:r>
            <a:endParaRPr lang="en-US" sz="1467"/>
          </a:p>
        </p:txBody>
      </p:sp>
      <p:sp>
        <p:nvSpPr>
          <p:cNvPr id="4" name="Text 2"/>
          <p:cNvSpPr/>
          <p:nvPr/>
        </p:nvSpPr>
        <p:spPr>
          <a:xfrm>
            <a:off x="487680" y="670560"/>
            <a:ext cx="1121664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3200">
                <a:solidFill>
                  <a:srgbClr val="FFFFFF"/>
                </a:solidFill>
                <a:ea typeface="+mn-lt"/>
                <a:cs typeface="+mn-lt"/>
              </a:rPr>
              <a:t>What This Evidence Can and Can't Do</a:t>
            </a:r>
            <a:endParaRPr lang="en-US"/>
          </a:p>
        </p:txBody>
      </p:sp>
      <p:sp>
        <p:nvSpPr>
          <p:cNvPr id="5" name="Text 3"/>
          <p:cNvSpPr/>
          <p:nvPr/>
        </p:nvSpPr>
        <p:spPr>
          <a:xfrm>
            <a:off x="426720" y="1463040"/>
            <a:ext cx="11338560" cy="36576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450">
                <a:solidFill>
                  <a:srgbClr val="A8C8E0"/>
                </a:solidFill>
                <a:ea typeface="+mn-lt"/>
                <a:cs typeface="+mn-lt"/>
              </a:rPr>
              <a:t>One of the most important questions in digital forensics is: can this evidence be trusted in court?</a:t>
            </a:r>
            <a:endParaRPr lang="en-US" sz="1450">
              <a:ea typeface="+mn-lt"/>
              <a:cs typeface="+mn-lt"/>
            </a:endParaRPr>
          </a:p>
        </p:txBody>
      </p:sp>
      <p:sp>
        <p:nvSpPr>
          <p:cNvPr id="6" name="Shape 4"/>
          <p:cNvSpPr/>
          <p:nvPr/>
        </p:nvSpPr>
        <p:spPr>
          <a:xfrm>
            <a:off x="426720" y="1975104"/>
            <a:ext cx="3474720" cy="3230880"/>
          </a:xfrm>
          <a:prstGeom prst="rect">
            <a:avLst/>
          </a:prstGeom>
          <a:solidFill>
            <a:srgbClr val="112233"/>
          </a:solidFill>
          <a:ln w="12700">
            <a:solidFill>
              <a:srgbClr val="00B4D8"/>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7" name="Shape 5"/>
          <p:cNvSpPr/>
          <p:nvPr/>
        </p:nvSpPr>
        <p:spPr>
          <a:xfrm>
            <a:off x="426720" y="1975104"/>
            <a:ext cx="3474720" cy="365760"/>
          </a:xfrm>
          <a:prstGeom prst="rect">
            <a:avLst/>
          </a:prstGeom>
          <a:solidFill>
            <a:srgbClr val="00B4D8"/>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8" name="Text 6"/>
          <p:cNvSpPr/>
          <p:nvPr/>
        </p:nvSpPr>
        <p:spPr>
          <a:xfrm>
            <a:off x="548640" y="1999488"/>
            <a:ext cx="323088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0D1B2A"/>
                </a:solidFill>
              </a:rPr>
              <a:t>What We Established</a:t>
            </a:r>
            <a:endParaRPr lang="en-US" sz="1333"/>
          </a:p>
        </p:txBody>
      </p:sp>
      <p:sp>
        <p:nvSpPr>
          <p:cNvPr id="9" name="Text 7"/>
          <p:cNvSpPr/>
          <p:nvPr/>
        </p:nvSpPr>
        <p:spPr>
          <a:xfrm>
            <a:off x="548640" y="2462784"/>
            <a:ext cx="3230880"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6565" indent="-456565">
              <a:buSzPct val="100000"/>
              <a:buChar char="•"/>
            </a:pPr>
            <a:r>
              <a:rPr lang="en-US" sz="1300" err="1">
                <a:solidFill>
                  <a:srgbClr val="FFFFFF"/>
                </a:solidFill>
              </a:rPr>
              <a:t>Plaso</a:t>
            </a:r>
            <a:r>
              <a:rPr lang="en-US" sz="1300">
                <a:solidFill>
                  <a:srgbClr val="FFFFFF"/>
                </a:solidFill>
              </a:rPr>
              <a:t> &amp; </a:t>
            </a:r>
            <a:r>
              <a:rPr lang="en-US" sz="1300" err="1">
                <a:solidFill>
                  <a:srgbClr val="FFFFFF"/>
                </a:solidFill>
              </a:rPr>
              <a:t>Timesketch</a:t>
            </a:r>
            <a:r>
              <a:rPr lang="en-US" sz="1300">
                <a:solidFill>
                  <a:srgbClr val="FFFFFF"/>
                </a:solidFill>
              </a:rPr>
              <a:t> fall in Detection &amp; Analysis phase of IR</a:t>
            </a:r>
            <a:endParaRPr lang="en-US" sz="1300">
              <a:ea typeface="Calibri" panose="020F0502020204030204"/>
              <a:cs typeface="Calibri" panose="020F0502020204030204"/>
            </a:endParaRPr>
          </a:p>
        </p:txBody>
      </p:sp>
      <p:sp>
        <p:nvSpPr>
          <p:cNvPr id="10" name="Text 8"/>
          <p:cNvSpPr/>
          <p:nvPr/>
        </p:nvSpPr>
        <p:spPr>
          <a:xfrm>
            <a:off x="548640" y="3340608"/>
            <a:ext cx="3230880"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buSzPct val="100000"/>
              <a:buChar char="•"/>
            </a:pPr>
            <a:r>
              <a:rPr lang="en-US" sz="1333">
                <a:solidFill>
                  <a:srgbClr val="FFFFFF"/>
                </a:solidFill>
              </a:rPr>
              <a:t>Disk artifacts alone gave us: who, what, how, and when</a:t>
            </a:r>
            <a:endParaRPr lang="en-US" sz="1333"/>
          </a:p>
        </p:txBody>
      </p:sp>
      <p:sp>
        <p:nvSpPr>
          <p:cNvPr id="11" name="Text 9"/>
          <p:cNvSpPr/>
          <p:nvPr/>
        </p:nvSpPr>
        <p:spPr>
          <a:xfrm>
            <a:off x="548640" y="4218432"/>
            <a:ext cx="3230880"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189" indent="-457189">
              <a:buSzPct val="100000"/>
              <a:buChar char="•"/>
            </a:pPr>
            <a:r>
              <a:rPr lang="en-US" sz="1333">
                <a:solidFill>
                  <a:srgbClr val="FFFFFF"/>
                </a:solidFill>
              </a:rPr>
              <a:t>Every finding ties to a specific artifact and timestamp</a:t>
            </a:r>
            <a:endParaRPr lang="en-US" sz="1333"/>
          </a:p>
        </p:txBody>
      </p:sp>
      <p:sp>
        <p:nvSpPr>
          <p:cNvPr id="12" name="Shape 10"/>
          <p:cNvSpPr/>
          <p:nvPr/>
        </p:nvSpPr>
        <p:spPr>
          <a:xfrm>
            <a:off x="4206240" y="1975104"/>
            <a:ext cx="3474720" cy="3230880"/>
          </a:xfrm>
          <a:prstGeom prst="rect">
            <a:avLst/>
          </a:prstGeom>
          <a:solidFill>
            <a:srgbClr val="112233"/>
          </a:solidFill>
          <a:ln w="12700">
            <a:solidFill>
              <a:srgbClr val="0077A8"/>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3" name="Shape 11"/>
          <p:cNvSpPr/>
          <p:nvPr/>
        </p:nvSpPr>
        <p:spPr>
          <a:xfrm>
            <a:off x="4206240" y="1975104"/>
            <a:ext cx="3474720" cy="365760"/>
          </a:xfrm>
          <a:prstGeom prst="rect">
            <a:avLst/>
          </a:prstGeom>
          <a:solidFill>
            <a:srgbClr val="0077A8"/>
          </a:solidFill>
          <a:ln w="12700">
            <a:solidFill>
              <a:srgbClr val="0077A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4" name="Text 12"/>
          <p:cNvSpPr/>
          <p:nvPr/>
        </p:nvSpPr>
        <p:spPr>
          <a:xfrm>
            <a:off x="4328160" y="1999488"/>
            <a:ext cx="323088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0D1B2A"/>
                </a:solidFill>
              </a:rPr>
              <a:t>What Strengthens the Case</a:t>
            </a:r>
            <a:endParaRPr lang="en-US" sz="1333"/>
          </a:p>
        </p:txBody>
      </p:sp>
      <p:sp>
        <p:nvSpPr>
          <p:cNvPr id="15" name="Text 13"/>
          <p:cNvSpPr/>
          <p:nvPr/>
        </p:nvSpPr>
        <p:spPr>
          <a:xfrm>
            <a:off x="4328160" y="2462784"/>
            <a:ext cx="3230880"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6565" indent="-456565">
              <a:buSzPct val="100000"/>
              <a:buChar char="•"/>
            </a:pPr>
            <a:r>
              <a:rPr lang="en-US" sz="1300">
                <a:solidFill>
                  <a:srgbClr val="FFFFFF"/>
                </a:solidFill>
              </a:rPr>
              <a:t>Processed files in read-only mode, original evidence never touched</a:t>
            </a:r>
            <a:endParaRPr lang="en-US" sz="1300">
              <a:ea typeface="Calibri" panose="020F0502020204030204"/>
              <a:cs typeface="Calibri" panose="020F0502020204030204"/>
            </a:endParaRPr>
          </a:p>
        </p:txBody>
      </p:sp>
      <p:sp>
        <p:nvSpPr>
          <p:cNvPr id="16" name="Text 14"/>
          <p:cNvSpPr/>
          <p:nvPr/>
        </p:nvSpPr>
        <p:spPr>
          <a:xfrm>
            <a:off x="4328160" y="3340608"/>
            <a:ext cx="3230880"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6565" indent="-456565">
              <a:buSzPct val="100000"/>
              <a:buChar char="•"/>
            </a:pPr>
            <a:r>
              <a:rPr lang="en-US" sz="1300">
                <a:solidFill>
                  <a:srgbClr val="FFFFFF"/>
                </a:solidFill>
              </a:rPr>
              <a:t>Fully documented,  same commands, same result, every time</a:t>
            </a:r>
            <a:endParaRPr lang="en-US" sz="1300">
              <a:ea typeface="Calibri" panose="020F0502020204030204"/>
              <a:cs typeface="Calibri" panose="020F0502020204030204"/>
            </a:endParaRPr>
          </a:p>
        </p:txBody>
      </p:sp>
      <p:sp>
        <p:nvSpPr>
          <p:cNvPr id="17" name="Text 15"/>
          <p:cNvSpPr/>
          <p:nvPr/>
        </p:nvSpPr>
        <p:spPr>
          <a:xfrm>
            <a:off x="4328160" y="4218432"/>
            <a:ext cx="3230880"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6565" indent="-456565">
              <a:buSzPct val="100000"/>
              <a:buChar char="•"/>
            </a:pPr>
            <a:r>
              <a:rPr lang="en-US" sz="1300">
                <a:solidFill>
                  <a:srgbClr val="FFFFFF"/>
                </a:solidFill>
              </a:rPr>
              <a:t>Same event on Jo's machine and his work USB, moreover multiple copies</a:t>
            </a:r>
            <a:endParaRPr lang="en-US" sz="1300">
              <a:ea typeface="Calibri" panose="020F0502020204030204"/>
              <a:cs typeface="Calibri" panose="020F0502020204030204"/>
            </a:endParaRPr>
          </a:p>
        </p:txBody>
      </p:sp>
      <p:sp>
        <p:nvSpPr>
          <p:cNvPr id="18" name="Shape 16"/>
          <p:cNvSpPr/>
          <p:nvPr/>
        </p:nvSpPr>
        <p:spPr>
          <a:xfrm>
            <a:off x="7985760" y="1975104"/>
            <a:ext cx="3474720" cy="3230880"/>
          </a:xfrm>
          <a:prstGeom prst="rect">
            <a:avLst/>
          </a:prstGeom>
          <a:solidFill>
            <a:srgbClr val="112233"/>
          </a:solidFill>
          <a:ln w="12700">
            <a:solidFill>
              <a:srgbClr val="F4A261"/>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9" name="Shape 17"/>
          <p:cNvSpPr/>
          <p:nvPr/>
        </p:nvSpPr>
        <p:spPr>
          <a:xfrm>
            <a:off x="7985760" y="1975104"/>
            <a:ext cx="3474720" cy="365760"/>
          </a:xfrm>
          <a:prstGeom prst="rect">
            <a:avLst/>
          </a:prstGeom>
          <a:solidFill>
            <a:srgbClr val="F4A261"/>
          </a:solidFill>
          <a:ln w="12700">
            <a:solidFill>
              <a:srgbClr val="F4A261"/>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0" name="Text 18"/>
          <p:cNvSpPr/>
          <p:nvPr/>
        </p:nvSpPr>
        <p:spPr>
          <a:xfrm>
            <a:off x="8107680" y="1999488"/>
            <a:ext cx="323088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a:solidFill>
                  <a:srgbClr val="0D1B2A"/>
                </a:solidFill>
              </a:rPr>
              <a:t>What's Still Missing</a:t>
            </a:r>
            <a:endParaRPr lang="en-US" sz="1333"/>
          </a:p>
        </p:txBody>
      </p:sp>
      <p:sp>
        <p:nvSpPr>
          <p:cNvPr id="21" name="Text 19"/>
          <p:cNvSpPr/>
          <p:nvPr/>
        </p:nvSpPr>
        <p:spPr>
          <a:xfrm>
            <a:off x="8107680" y="2462784"/>
            <a:ext cx="3230880"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6565" indent="-456565">
              <a:buSzPct val="100000"/>
              <a:buChar char="•"/>
            </a:pPr>
            <a:r>
              <a:rPr lang="en-US" sz="1300">
                <a:solidFill>
                  <a:srgbClr val="FFFFFF"/>
                </a:solidFill>
              </a:rPr>
              <a:t>Files went to USB but can't prove where they went after</a:t>
            </a:r>
            <a:endParaRPr lang="en-US" sz="1300">
              <a:ea typeface="Calibri" panose="020F0502020204030204"/>
              <a:cs typeface="Calibri" panose="020F0502020204030204"/>
            </a:endParaRPr>
          </a:p>
        </p:txBody>
      </p:sp>
      <p:sp>
        <p:nvSpPr>
          <p:cNvPr id="22" name="Text 20"/>
          <p:cNvSpPr/>
          <p:nvPr/>
        </p:nvSpPr>
        <p:spPr>
          <a:xfrm>
            <a:off x="8107680" y="3340608"/>
            <a:ext cx="3230880"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6565" indent="-456565">
              <a:buSzPct val="100000"/>
              <a:buChar char="•"/>
            </a:pPr>
            <a:r>
              <a:rPr lang="en-US" sz="1300">
                <a:solidFill>
                  <a:srgbClr val="FFFFFF"/>
                </a:solidFill>
              </a:rPr>
              <a:t>Outside contact could not be identified from disk image alone</a:t>
            </a:r>
            <a:endParaRPr lang="en-US" sz="1300">
              <a:solidFill>
                <a:srgbClr val="FFFFFF"/>
              </a:solidFill>
              <a:ea typeface="Calibri" panose="020F0502020204030204"/>
              <a:cs typeface="Calibri" panose="020F0502020204030204"/>
            </a:endParaRPr>
          </a:p>
        </p:txBody>
      </p:sp>
      <p:sp>
        <p:nvSpPr>
          <p:cNvPr id="23" name="Text 21"/>
          <p:cNvSpPr/>
          <p:nvPr/>
        </p:nvSpPr>
        <p:spPr>
          <a:xfrm>
            <a:off x="8107680" y="4218432"/>
            <a:ext cx="3230880" cy="82905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6565" indent="-456565">
              <a:buSzPct val="100000"/>
              <a:buChar char="•"/>
            </a:pPr>
            <a:r>
              <a:rPr lang="en-US" sz="1300">
                <a:solidFill>
                  <a:srgbClr val="FFFFFF"/>
                </a:solidFill>
              </a:rPr>
              <a:t>Timeline shows activity, cannot prove intent</a:t>
            </a:r>
            <a:endParaRPr lang="en-US" sz="1300">
              <a:solidFill>
                <a:srgbClr val="FFFFFF"/>
              </a:solidFill>
              <a:ea typeface="Calibri"/>
              <a:cs typeface="Calibri"/>
            </a:endParaRPr>
          </a:p>
        </p:txBody>
      </p:sp>
      <p:sp>
        <p:nvSpPr>
          <p:cNvPr id="24" name="Shape 22"/>
          <p:cNvSpPr/>
          <p:nvPr/>
        </p:nvSpPr>
        <p:spPr>
          <a:xfrm>
            <a:off x="426720" y="5388864"/>
            <a:ext cx="11338560" cy="1097280"/>
          </a:xfrm>
          <a:prstGeom prst="rect">
            <a:avLst/>
          </a:prstGeom>
          <a:solidFill>
            <a:srgbClr val="1B3A5C"/>
          </a:solidFill>
          <a:ln w="12700">
            <a:solidFill>
              <a:srgbClr val="1B3A5C"/>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25" name="Text 23"/>
          <p:cNvSpPr/>
          <p:nvPr/>
        </p:nvSpPr>
        <p:spPr>
          <a:xfrm>
            <a:off x="649825" y="5512028"/>
            <a:ext cx="1828800" cy="31699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600" b="1">
                <a:solidFill>
                  <a:srgbClr val="00B4D8"/>
                </a:solidFill>
              </a:rPr>
              <a:t>Bottom line:</a:t>
            </a:r>
            <a:endParaRPr lang="en-US" sz="1600">
              <a:ea typeface="Calibri"/>
              <a:cs typeface="Calibri"/>
            </a:endParaRPr>
          </a:p>
        </p:txBody>
      </p:sp>
      <p:sp>
        <p:nvSpPr>
          <p:cNvPr id="26" name="Text 24"/>
          <p:cNvSpPr/>
          <p:nvPr/>
        </p:nvSpPr>
        <p:spPr>
          <a:xfrm>
            <a:off x="655217" y="5760843"/>
            <a:ext cx="10927183" cy="639957"/>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450">
                <a:solidFill>
                  <a:srgbClr val="FFFFFF"/>
                </a:solidFill>
                <a:ea typeface="+mn-lt"/>
                <a:cs typeface="+mn-lt"/>
              </a:rPr>
              <a:t>Host forensics tells you what happened on the machine. Network forensics tells you where the data went and who it went to. Memory forensics tells you what was running at the time that never got written to disk. You need all three to build a complete picture. </a:t>
            </a:r>
            <a:endParaRPr lang="en-US"/>
          </a:p>
        </p:txBody>
      </p:sp>
    </p:spTree>
    <p:extLst>
      <p:ext uri="{BB962C8B-B14F-4D97-AF65-F5344CB8AC3E}">
        <p14:creationId xmlns:p14="http://schemas.microsoft.com/office/powerpoint/2010/main" val="1714145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B4D8"/>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 name="Text 1"/>
          <p:cNvSpPr/>
          <p:nvPr/>
        </p:nvSpPr>
        <p:spPr>
          <a:xfrm>
            <a:off x="487680" y="268224"/>
            <a:ext cx="10972800" cy="39014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kern="0" spc="533">
                <a:solidFill>
                  <a:srgbClr val="00B4D8"/>
                </a:solidFill>
              </a:rPr>
              <a:t>CONCLUSION</a:t>
            </a:r>
            <a:endParaRPr lang="en-US" sz="1467"/>
          </a:p>
        </p:txBody>
      </p:sp>
      <p:sp>
        <p:nvSpPr>
          <p:cNvPr id="4" name="Text 2"/>
          <p:cNvSpPr/>
          <p:nvPr/>
        </p:nvSpPr>
        <p:spPr>
          <a:xfrm>
            <a:off x="487680" y="670560"/>
            <a:ext cx="11216640" cy="63398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200" b="1">
                <a:solidFill>
                  <a:srgbClr val="FFFFFF"/>
                </a:solidFill>
              </a:rPr>
              <a:t>Key Takeaways</a:t>
            </a:r>
            <a:endParaRPr lang="en-US" sz="3200"/>
          </a:p>
        </p:txBody>
      </p:sp>
      <p:sp>
        <p:nvSpPr>
          <p:cNvPr id="23" name="Shape 3">
            <a:extLst>
              <a:ext uri="{FF2B5EF4-FFF2-40B4-BE49-F238E27FC236}">
                <a16:creationId xmlns:a16="http://schemas.microsoft.com/office/drawing/2014/main" id="{A5C016BE-AE50-993B-9E2A-DA0C63233008}"/>
              </a:ext>
            </a:extLst>
          </p:cNvPr>
          <p:cNvSpPr/>
          <p:nvPr/>
        </p:nvSpPr>
        <p:spPr>
          <a:xfrm>
            <a:off x="483321" y="1498523"/>
            <a:ext cx="11222426" cy="3029064"/>
          </a:xfrm>
          <a:prstGeom prst="rect">
            <a:avLst/>
          </a:prstGeom>
          <a:solidFill>
            <a:srgbClr val="1B3A5C"/>
          </a:solidFill>
          <a:ln w="12700">
            <a:solidFill>
              <a:srgbClr val="00B4D8"/>
            </a:solidFill>
            <a:prstDash val="solid"/>
          </a:ln>
        </p:spPr>
        <p:txBody>
          <a:bodyPr lIns="91440" tIns="45720" rIns="91440" bIns="4572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a:ea typeface="Calibri"/>
              <a:cs typeface="Calibri"/>
            </a:endParaRPr>
          </a:p>
        </p:txBody>
      </p:sp>
      <p:sp>
        <p:nvSpPr>
          <p:cNvPr id="25" name="Text 10">
            <a:extLst>
              <a:ext uri="{FF2B5EF4-FFF2-40B4-BE49-F238E27FC236}">
                <a16:creationId xmlns:a16="http://schemas.microsoft.com/office/drawing/2014/main" id="{C6645505-C97F-E4A5-E92C-B257DDC50A48}"/>
              </a:ext>
            </a:extLst>
          </p:cNvPr>
          <p:cNvSpPr/>
          <p:nvPr/>
        </p:nvSpPr>
        <p:spPr>
          <a:xfrm>
            <a:off x="919376" y="1775137"/>
            <a:ext cx="10347026" cy="247767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1500">
              <a:solidFill>
                <a:srgbClr val="000000"/>
              </a:solidFill>
            </a:endParaRPr>
          </a:p>
          <a:p>
            <a:pPr marL="285750" indent="-285750">
              <a:buFont typeface="Arial"/>
              <a:buChar char="•"/>
            </a:pPr>
            <a:r>
              <a:rPr lang="en-US" sz="1500">
                <a:solidFill>
                  <a:srgbClr val="FFFFFF"/>
                </a:solidFill>
                <a:ea typeface="Calibri"/>
                <a:cs typeface="Calibri"/>
              </a:rPr>
              <a:t>Host forensics is the starting point. </a:t>
            </a:r>
            <a:endParaRPr lang="en-US" sz="1500">
              <a:solidFill>
                <a:srgbClr val="FFFFFF"/>
              </a:solidFill>
            </a:endParaRPr>
          </a:p>
          <a:p>
            <a:pPr marL="285750" indent="-285750">
              <a:buFont typeface="Arial"/>
              <a:buChar char="•"/>
            </a:pPr>
            <a:endParaRPr lang="en-US" sz="1500">
              <a:solidFill>
                <a:srgbClr val="FFFFFF"/>
              </a:solidFill>
            </a:endParaRPr>
          </a:p>
          <a:p>
            <a:pPr marL="285750" indent="-285750">
              <a:buFont typeface="Arial"/>
              <a:buChar char="•"/>
            </a:pPr>
            <a:r>
              <a:rPr lang="en-US" sz="1500">
                <a:solidFill>
                  <a:srgbClr val="FFFFFF"/>
                </a:solidFill>
              </a:rPr>
              <a:t>When we started this project, we had a disk image, two tools, and a scenario. By the end of it, we had a suspect, a timeline, and a story that the evidence told itself. That's what host-based forensics actually is.</a:t>
            </a:r>
            <a:endParaRPr lang="en-US" sz="1500">
              <a:solidFill>
                <a:srgbClr val="000000"/>
              </a:solidFill>
              <a:ea typeface="Calibri" panose="020F0502020204030204"/>
              <a:cs typeface="Calibri" panose="020F0502020204030204"/>
            </a:endParaRPr>
          </a:p>
          <a:p>
            <a:pPr marL="285750" indent="-285750">
              <a:buFont typeface="Arial"/>
              <a:buChar char="•"/>
            </a:pPr>
            <a:endParaRPr lang="en-US" sz="1500">
              <a:solidFill>
                <a:srgbClr val="000000"/>
              </a:solidFill>
              <a:ea typeface="Calibri" panose="020F0502020204030204"/>
              <a:cs typeface="Calibri" panose="020F0502020204030204"/>
            </a:endParaRPr>
          </a:p>
          <a:p>
            <a:pPr marL="285750" indent="-285750">
              <a:buFont typeface="Arial"/>
              <a:buChar char="•"/>
            </a:pPr>
            <a:r>
              <a:rPr lang="en-US" sz="1500">
                <a:solidFill>
                  <a:srgbClr val="FFFFFF"/>
                </a:solidFill>
              </a:rPr>
              <a:t>Every artifact left behind by the suspect became a data point, and </a:t>
            </a:r>
            <a:r>
              <a:rPr lang="en-US" sz="1500" err="1">
                <a:solidFill>
                  <a:srgbClr val="FFFFFF"/>
                </a:solidFill>
              </a:rPr>
              <a:t>Plaso</a:t>
            </a:r>
            <a:r>
              <a:rPr lang="en-US" sz="1500">
                <a:solidFill>
                  <a:srgbClr val="FFFFFF"/>
                </a:solidFill>
              </a:rPr>
              <a:t> and </a:t>
            </a:r>
            <a:r>
              <a:rPr lang="en-US" sz="1500" err="1">
                <a:solidFill>
                  <a:srgbClr val="FFFFFF"/>
                </a:solidFill>
              </a:rPr>
              <a:t>Timesketch</a:t>
            </a:r>
            <a:r>
              <a:rPr lang="en-US" sz="1500">
                <a:solidFill>
                  <a:srgbClr val="FFFFFF"/>
                </a:solidFill>
              </a:rPr>
              <a:t> gave us the ability to connect those dots across 8 different sources at once.</a:t>
            </a:r>
            <a:endParaRPr lang="en-US" sz="1500">
              <a:solidFill>
                <a:srgbClr val="000000"/>
              </a:solidFill>
            </a:endParaRPr>
          </a:p>
          <a:p>
            <a:pPr marL="285750" indent="-285750">
              <a:buFont typeface="Arial"/>
              <a:buChar char="•"/>
            </a:pPr>
            <a:endParaRPr lang="en-US" sz="1500">
              <a:solidFill>
                <a:srgbClr val="FFFFFF"/>
              </a:solidFill>
            </a:endParaRPr>
          </a:p>
          <a:p>
            <a:pPr marL="285750" indent="-285750">
              <a:buFont typeface="Arial"/>
              <a:buChar char="•"/>
            </a:pPr>
            <a:r>
              <a:rPr lang="en-US" sz="1500">
                <a:solidFill>
                  <a:srgbClr val="FFFFFF"/>
                </a:solidFill>
              </a:rPr>
              <a:t>The tools work. They are not perfect, we ran into limitations, and there are questions this investigation couldn't answer. But the foundation is solid. And in a real incident, that foundation is what everything else gets built on.</a:t>
            </a:r>
            <a:endParaRPr lang="en-US" sz="1500">
              <a:solidFill>
                <a:srgbClr val="000000"/>
              </a:solidFill>
              <a:ea typeface="Calibri" panose="020F0502020204030204"/>
              <a:cs typeface="Calibri" panose="020F0502020204030204"/>
            </a:endParaRPr>
          </a:p>
          <a:p>
            <a:endParaRPr lang="en-US" sz="1450">
              <a:solidFill>
                <a:srgbClr val="FFFFFF"/>
              </a:solidFill>
              <a:ea typeface="Calibri" panose="020F0502020204030204"/>
              <a:cs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B4D8"/>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3" name="Shape 1"/>
          <p:cNvSpPr/>
          <p:nvPr/>
        </p:nvSpPr>
        <p:spPr>
          <a:xfrm>
            <a:off x="9265920" y="-609600"/>
            <a:ext cx="4145280" cy="4145280"/>
          </a:xfrm>
          <a:prstGeom prst="ellipse">
            <a:avLst/>
          </a:prstGeom>
          <a:solidFill>
            <a:srgbClr val="00B4D8">
              <a:alpha val="15000"/>
            </a:srgbClr>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4" name="Shape 2"/>
          <p:cNvSpPr/>
          <p:nvPr/>
        </p:nvSpPr>
        <p:spPr>
          <a:xfrm>
            <a:off x="10363200" y="3657600"/>
            <a:ext cx="2438400" cy="2438400"/>
          </a:xfrm>
          <a:prstGeom prst="ellipse">
            <a:avLst/>
          </a:prstGeom>
          <a:solidFill>
            <a:srgbClr val="0077A8">
              <a:alpha val="20000"/>
            </a:srgbClr>
          </a:solidFill>
          <a:ln w="12700">
            <a:solidFill>
              <a:srgbClr val="0077A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5" name="Text 3"/>
          <p:cNvSpPr/>
          <p:nvPr/>
        </p:nvSpPr>
        <p:spPr>
          <a:xfrm>
            <a:off x="487680" y="1909873"/>
            <a:ext cx="9753600" cy="12192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6933" b="1">
                <a:solidFill>
                  <a:srgbClr val="FFFFFF"/>
                </a:solidFill>
              </a:rPr>
              <a:t>Thank You</a:t>
            </a:r>
            <a:endParaRPr lang="en-US" sz="6933"/>
          </a:p>
        </p:txBody>
      </p:sp>
      <p:sp>
        <p:nvSpPr>
          <p:cNvPr id="7" name="Shape 5"/>
          <p:cNvSpPr/>
          <p:nvPr/>
        </p:nvSpPr>
        <p:spPr>
          <a:xfrm>
            <a:off x="487680" y="3230880"/>
            <a:ext cx="8534400" cy="73152"/>
          </a:xfrm>
          <a:prstGeom prst="rect">
            <a:avLst/>
          </a:prstGeom>
          <a:solidFill>
            <a:srgbClr val="00B4D8"/>
          </a:solidFill>
          <a:ln w="12700">
            <a:solidFill>
              <a:srgbClr val="00B4D8"/>
            </a:solidFill>
            <a:prstDash val="solid"/>
          </a:ln>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8" name="Text 6"/>
          <p:cNvSpPr/>
          <p:nvPr/>
        </p:nvSpPr>
        <p:spPr>
          <a:xfrm>
            <a:off x="487680" y="3474720"/>
            <a:ext cx="10972800" cy="4267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733">
                <a:solidFill>
                  <a:srgbClr val="00B4D8"/>
                </a:solidFill>
              </a:rPr>
              <a:t>Nicholas Tsilimidos  |  Craig Perkins  |  Shreyak Karmacharya  |  Ikram Ramdani</a:t>
            </a:r>
            <a:endParaRPr lang="en-US" sz="1733"/>
          </a:p>
        </p:txBody>
      </p:sp>
      <p:sp>
        <p:nvSpPr>
          <p:cNvPr id="10" name="Shape 8"/>
          <p:cNvSpPr/>
          <p:nvPr/>
        </p:nvSpPr>
        <p:spPr>
          <a:xfrm>
            <a:off x="487680" y="5170527"/>
            <a:ext cx="6705600" cy="1254657"/>
          </a:xfrm>
          <a:prstGeom prst="rect">
            <a:avLst/>
          </a:prstGeom>
          <a:solidFill>
            <a:srgbClr val="112233"/>
          </a:solidFill>
          <a:ln w="12700">
            <a:solidFill>
              <a:srgbClr val="00B4D8"/>
            </a:solidFill>
            <a:prstDash val="solid"/>
          </a:ln>
          <a:effectLst>
            <a:outerShdw blurRad="101600" dist="38100" dir="8100000" algn="bl" rotWithShape="0">
              <a:srgbClr val="000000">
                <a:alpha val="25000"/>
              </a:srgbClr>
            </a:outerShdw>
          </a:effectLst>
        </p:spPr>
        <p:txBody>
          <a:bodyP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3200"/>
          </a:p>
        </p:txBody>
      </p:sp>
      <p:sp>
        <p:nvSpPr>
          <p:cNvPr id="11" name="Text 9"/>
          <p:cNvSpPr/>
          <p:nvPr/>
        </p:nvSpPr>
        <p:spPr>
          <a:xfrm>
            <a:off x="701952" y="5568717"/>
            <a:ext cx="6278880" cy="463296"/>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3600" b="1">
                <a:solidFill>
                  <a:srgbClr val="00B4D8"/>
                </a:solidFill>
              </a:rPr>
              <a:t>Any Questions?</a:t>
            </a:r>
            <a:endParaRPr lang="en-US" sz="3600">
              <a:ea typeface="Calibri"/>
              <a:cs typeface="Calibri"/>
            </a:endParaRPr>
          </a:p>
        </p:txBody>
      </p:sp>
    </p:spTree>
    <p:extLst>
      <p:ext uri="{BB962C8B-B14F-4D97-AF65-F5344CB8AC3E}">
        <p14:creationId xmlns:p14="http://schemas.microsoft.com/office/powerpoint/2010/main" val="32237104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11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Tsilimidos, Nicholas S</dc:creator>
  <cp:revision>2</cp:revision>
  <dcterms:created xsi:type="dcterms:W3CDTF">2026-04-14T23:39:25Z</dcterms:created>
  <dcterms:modified xsi:type="dcterms:W3CDTF">2026-04-23T23:53:50Z</dcterms:modified>
</cp:coreProperties>
</file>